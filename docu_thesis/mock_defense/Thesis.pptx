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comment1.xml" ContentType="application/vnd.openxmlformats-officedocument.presentationml.comment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2"/>
  </p:notesMasterIdLst>
  <p:handoutMasterIdLst>
    <p:handoutMasterId r:id="rId33"/>
  </p:handoutMasterIdLst>
  <p:sldIdLst>
    <p:sldId id="387" r:id="rId2"/>
    <p:sldId id="386" r:id="rId3"/>
    <p:sldId id="378" r:id="rId4"/>
    <p:sldId id="385" r:id="rId5"/>
    <p:sldId id="395" r:id="rId6"/>
    <p:sldId id="425" r:id="rId7"/>
    <p:sldId id="388" r:id="rId8"/>
    <p:sldId id="383" r:id="rId9"/>
    <p:sldId id="381" r:id="rId10"/>
    <p:sldId id="426" r:id="rId11"/>
    <p:sldId id="427" r:id="rId12"/>
    <p:sldId id="428" r:id="rId13"/>
    <p:sldId id="429" r:id="rId14"/>
    <p:sldId id="430" r:id="rId15"/>
    <p:sldId id="431" r:id="rId16"/>
    <p:sldId id="432" r:id="rId17"/>
    <p:sldId id="433" r:id="rId18"/>
    <p:sldId id="434" r:id="rId19"/>
    <p:sldId id="435" r:id="rId20"/>
    <p:sldId id="436" r:id="rId21"/>
    <p:sldId id="437" r:id="rId22"/>
    <p:sldId id="438" r:id="rId23"/>
    <p:sldId id="439" r:id="rId24"/>
    <p:sldId id="440" r:id="rId25"/>
    <p:sldId id="441" r:id="rId26"/>
    <p:sldId id="442" r:id="rId27"/>
    <p:sldId id="443" r:id="rId28"/>
    <p:sldId id="444" r:id="rId29"/>
    <p:sldId id="445" r:id="rId30"/>
    <p:sldId id="446" r:id="rId3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jbdelacruz" initials="m" lastIdx="2" clrIdx="0">
    <p:extLst>
      <p:ext uri="{19B8F6BF-5375-455C-9EA6-DF929625EA0E}">
        <p15:presenceInfo xmlns:p15="http://schemas.microsoft.com/office/powerpoint/2012/main" userId="mjbdelacru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FE27D7-2BA6-4E93-BA8B-1DE118C74449}" v="5" dt="2025-11-17T06:12:19.650"/>
    <p1510:client id="{7A8A3223-C84B-4E13-8C49-36E41A6F6CF4}" v="45" dt="2025-11-16T11:40:52.024"/>
    <p1510:client id="{82FE2F06-FE26-4973-A909-E2D735782346}" v="10" dt="2025-11-16T11:40:53.274"/>
    <p1510:client id="{AFC8D5FA-0CEA-4667-819F-A58DDF9BF689}" v="9" dt="2025-11-17T07:51:21.098"/>
    <p1510:client id="{DE5BD2F6-9DFE-4A09-9F02-27986A91DAC8}" v="56" dt="2025-11-17T09:24:36.7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4660"/>
  </p:normalViewPr>
  <p:slideViewPr>
    <p:cSldViewPr snapToGrid="0">
      <p:cViewPr varScale="1">
        <p:scale>
          <a:sx n="81" d="100"/>
          <a:sy n="81" d="100"/>
        </p:scale>
        <p:origin x="88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0-01T23:24:39.373" idx="1">
    <p:pos x="10" y="10"/>
    <p:text/>
    <p:extLst>
      <p:ext uri="{C676402C-5697-4E1C-873F-D02D1690AC5C}">
        <p15:threadingInfo xmlns:p15="http://schemas.microsoft.com/office/powerpoint/2012/main" timeZoneBias="-4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CFD1A4EC-0E2A-4318-AB1C-9E133E1769C8}" type="datetimeFigureOut">
              <a:rPr lang="en-US" smtClean="0"/>
              <a:pPr/>
              <a:t>10/23/2026</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E8289CB0-A86B-4211-A648-37BD3FDE54B4}" type="slidenum">
              <a:rPr lang="en-US" smtClean="0"/>
              <a:pPr/>
              <a:t>‹#›</a:t>
            </a:fld>
            <a:endParaRPr lang="en-US"/>
          </a:p>
        </p:txBody>
      </p:sp>
    </p:spTree>
    <p:extLst>
      <p:ext uri="{BB962C8B-B14F-4D97-AF65-F5344CB8AC3E}">
        <p14:creationId xmlns:p14="http://schemas.microsoft.com/office/powerpoint/2010/main" val="606603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87A85BE4-99B6-47AC-ADFD-2B18346A1E08}" type="datetimeFigureOut">
              <a:rPr lang="en-US" smtClean="0"/>
              <a:pPr/>
              <a:t>10/23/2026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7CD1BEFB-0C94-4468-8105-C6AFEF24F6B8}" type="slidenum">
              <a:rPr lang="en-US" smtClean="0"/>
              <a:pPr/>
              <a:t>‹#›</a:t>
            </a:fld>
            <a:endParaRPr lang="en-US"/>
          </a:p>
        </p:txBody>
      </p:sp>
    </p:spTree>
    <p:extLst>
      <p:ext uri="{BB962C8B-B14F-4D97-AF65-F5344CB8AC3E}">
        <p14:creationId xmlns:p14="http://schemas.microsoft.com/office/powerpoint/2010/main" val="2805519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2626" y="4782373"/>
            <a:ext cx="2461859" cy="1876218"/>
          </a:xfrm>
          <a:prstGeom prst="rect">
            <a:avLst/>
          </a:prstGeom>
        </p:spPr>
      </p:pic>
      <p:pic>
        <p:nvPicPr>
          <p:cNvPr id="6" name="Picture 5"/>
          <p:cNvPicPr>
            <a:picLocks noChangeAspect="1"/>
          </p:cNvPicPr>
          <p:nvPr userDrawn="1"/>
        </p:nvPicPr>
        <p:blipFill>
          <a:blip r:embed="rId3">
            <a:extLst>
              <a:ext uri="{BEBA8EAE-BF5A-486C-A8C5-ECC9F3942E4B}">
                <a14:imgProps xmlns:a14="http://schemas.microsoft.com/office/drawing/2010/main">
                  <a14:imgLayer r:embed="rId4">
                    <a14:imgEffect>
                      <a14:backgroundRemoval t="0" b="98361" l="9455" r="89455"/>
                    </a14:imgEffect>
                  </a14:imgLayer>
                </a14:imgProps>
              </a:ext>
              <a:ext uri="{28A0092B-C50C-407E-A947-70E740481C1C}">
                <a14:useLocalDpi xmlns:a14="http://schemas.microsoft.com/office/drawing/2010/main" val="0"/>
              </a:ext>
            </a:extLst>
          </a:blip>
          <a:stretch>
            <a:fillRect/>
          </a:stretch>
        </p:blipFill>
        <p:spPr>
          <a:xfrm>
            <a:off x="9665586" y="3409508"/>
            <a:ext cx="2275938" cy="1514533"/>
          </a:xfrm>
          <a:prstGeom prst="rect">
            <a:avLst/>
          </a:prstGeom>
        </p:spPr>
      </p:pic>
    </p:spTree>
    <p:extLst>
      <p:ext uri="{BB962C8B-B14F-4D97-AF65-F5344CB8AC3E}">
        <p14:creationId xmlns:p14="http://schemas.microsoft.com/office/powerpoint/2010/main" val="2339162989"/>
      </p:ext>
    </p:extLst>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0"/>
            <a:ext cx="10972800" cy="685800"/>
          </a:xfrm>
        </p:spPr>
        <p:txBody>
          <a:bodyPr/>
          <a:lstStyle/>
          <a:p>
            <a:r>
              <a:rPr lang="en-US"/>
              <a:t>Click to edit Master title style</a:t>
            </a:r>
          </a:p>
        </p:txBody>
      </p:sp>
      <p:sp>
        <p:nvSpPr>
          <p:cNvPr id="3" name="Content Placeholder 2"/>
          <p:cNvSpPr>
            <a:spLocks noGrp="1"/>
          </p:cNvSpPr>
          <p:nvPr>
            <p:ph idx="1"/>
          </p:nvPr>
        </p:nvSpPr>
        <p:spPr>
          <a:xfrm>
            <a:off x="609600" y="1600201"/>
            <a:ext cx="10972800" cy="4876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09600" y="6356351"/>
            <a:ext cx="2844800" cy="365125"/>
          </a:xfrm>
          <a:prstGeom prst="rect">
            <a:avLst/>
          </a:prstGeom>
        </p:spPr>
        <p:txBody>
          <a:bodyPr/>
          <a:lstStyle/>
          <a:p>
            <a:endParaRPr lang="en-US">
              <a:solidFill>
                <a:prstClr val="black"/>
              </a:solidFill>
            </a:endParaRPr>
          </a:p>
        </p:txBody>
      </p:sp>
      <p:sp>
        <p:nvSpPr>
          <p:cNvPr id="8" name="Footer Placeholder 4"/>
          <p:cNvSpPr>
            <a:spLocks noGrp="1"/>
          </p:cNvSpPr>
          <p:nvPr>
            <p:ph type="ftr" sz="quarter" idx="11"/>
          </p:nvPr>
        </p:nvSpPr>
        <p:spPr>
          <a:xfrm>
            <a:off x="4165600" y="6356351"/>
            <a:ext cx="3860800" cy="365125"/>
          </a:xfrm>
          <a:prstGeom prst="rect">
            <a:avLst/>
          </a:prstGeom>
        </p:spPr>
        <p:txBody>
          <a:bodyPr/>
          <a:lstStyle/>
          <a:p>
            <a:endParaRPr lang="en-US">
              <a:solidFill>
                <a:prstClr val="black"/>
              </a:solidFill>
            </a:endParaRPr>
          </a:p>
        </p:txBody>
      </p:sp>
      <p:sp>
        <p:nvSpPr>
          <p:cNvPr id="9" name="Slide Number Placeholder 5"/>
          <p:cNvSpPr>
            <a:spLocks noGrp="1"/>
          </p:cNvSpPr>
          <p:nvPr>
            <p:ph type="sldNum" sz="quarter" idx="12"/>
          </p:nvPr>
        </p:nvSpPr>
        <p:spPr>
          <a:xfrm>
            <a:off x="8737600" y="6356351"/>
            <a:ext cx="2844800" cy="365125"/>
          </a:xfrm>
          <a:prstGeom prst="rect">
            <a:avLst/>
          </a:prstGeom>
        </p:spPr>
        <p:txBody>
          <a:bodyPr/>
          <a:lstStyle/>
          <a:p>
            <a:fld id="{F70FBD85-7FF4-40AC-94C6-23BF633C6D6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672503172"/>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83483854"/>
      </p:ext>
    </p:extLst>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876800"/>
          </a:xfrm>
        </p:spPr>
        <p:txBody>
          <a:bodyPr/>
          <a:lstStyle>
            <a:lvl1pPr>
              <a:defRPr sz="280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876800"/>
          </a:xfrm>
        </p:spPr>
        <p:txBody>
          <a:bodyPr/>
          <a:lstStyle>
            <a:lvl1pPr>
              <a:defRPr sz="280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6278276"/>
      </p:ext>
    </p:extLst>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4378325"/>
          </a:xfrm>
        </p:spPr>
        <p:txBody>
          <a:bodyPr/>
          <a:lstStyle>
            <a:lvl1pPr>
              <a:defRPr sz="24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4378325"/>
          </a:xfrm>
        </p:spPr>
        <p:txBody>
          <a:bodyPr/>
          <a:lstStyle>
            <a:lvl1pPr>
              <a:defRPr sz="24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7047684"/>
      </p:ext>
    </p:extLst>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3"/>
          <p:cNvSpPr>
            <a:spLocks noGrp="1"/>
          </p:cNvSpPr>
          <p:nvPr>
            <p:ph type="dt" sz="half" idx="10"/>
          </p:nvPr>
        </p:nvSpPr>
        <p:spPr>
          <a:xfrm>
            <a:off x="609600" y="6356351"/>
            <a:ext cx="2844800" cy="365125"/>
          </a:xfrm>
          <a:prstGeom prst="rect">
            <a:avLst/>
          </a:prstGeom>
        </p:spPr>
        <p:txBody>
          <a:bodyPr/>
          <a:lstStyle/>
          <a:p>
            <a:endParaRPr lang="en-US">
              <a:solidFill>
                <a:prstClr val="black"/>
              </a:solidFill>
            </a:endParaRPr>
          </a:p>
        </p:txBody>
      </p:sp>
      <p:sp>
        <p:nvSpPr>
          <p:cNvPr id="7" name="Footer Placeholder 4"/>
          <p:cNvSpPr>
            <a:spLocks noGrp="1"/>
          </p:cNvSpPr>
          <p:nvPr>
            <p:ph type="ftr" sz="quarter" idx="11"/>
          </p:nvPr>
        </p:nvSpPr>
        <p:spPr>
          <a:xfrm>
            <a:off x="4165600" y="6356351"/>
            <a:ext cx="3860800" cy="365125"/>
          </a:xfrm>
          <a:prstGeom prst="rect">
            <a:avLst/>
          </a:prstGeom>
        </p:spPr>
        <p:txBody>
          <a:bodyPr/>
          <a:lstStyle/>
          <a:p>
            <a:endParaRPr lang="en-US">
              <a:solidFill>
                <a:prstClr val="black"/>
              </a:solidFill>
            </a:endParaRPr>
          </a:p>
        </p:txBody>
      </p:sp>
      <p:sp>
        <p:nvSpPr>
          <p:cNvPr id="8" name="Slide Number Placeholder 5"/>
          <p:cNvSpPr>
            <a:spLocks noGrp="1"/>
          </p:cNvSpPr>
          <p:nvPr>
            <p:ph type="sldNum" sz="quarter" idx="12"/>
          </p:nvPr>
        </p:nvSpPr>
        <p:spPr>
          <a:xfrm>
            <a:off x="8737600" y="6356351"/>
            <a:ext cx="2844800" cy="365125"/>
          </a:xfrm>
          <a:prstGeom prst="rect">
            <a:avLst/>
          </a:prstGeom>
        </p:spPr>
        <p:txBody>
          <a:bodyPr/>
          <a:lstStyle/>
          <a:p>
            <a:fld id="{F70FBD85-7FF4-40AC-94C6-23BF633C6D6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327486243"/>
      </p:ext>
    </p:extLst>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endParaRPr lang="en-US">
              <a:solidFill>
                <a:prstClr val="black"/>
              </a:solidFill>
            </a:endParaRPr>
          </a:p>
        </p:txBody>
      </p:sp>
      <p:sp>
        <p:nvSpPr>
          <p:cNvPr id="3" name="Footer Placeholder 2"/>
          <p:cNvSpPr>
            <a:spLocks noGrp="1"/>
          </p:cNvSpPr>
          <p:nvPr>
            <p:ph type="ftr" sz="quarter" idx="11"/>
          </p:nvPr>
        </p:nvSpPr>
        <p:spPr>
          <a:xfrm>
            <a:off x="4165600" y="6356351"/>
            <a:ext cx="3860800" cy="365125"/>
          </a:xfrm>
          <a:prstGeom prst="rect">
            <a:avLst/>
          </a:prstGeom>
        </p:spPr>
        <p:txBody>
          <a:bodyPr/>
          <a:lstStyle/>
          <a:p>
            <a:endParaRPr lang="en-US">
              <a:solidFill>
                <a:prstClr val="black"/>
              </a:solidFill>
            </a:endParaRPr>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fld id="{F70FBD85-7FF4-40AC-94C6-23BF633C6D6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514472240"/>
      </p:ext>
    </p:extLst>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762000"/>
            <a:ext cx="4011084" cy="914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0"/>
            <a:ext cx="6815667" cy="6280150"/>
          </a:xfrm>
        </p:spPr>
        <p:txBody>
          <a:bodyPr/>
          <a:lstStyle>
            <a:lvl1pPr>
              <a:defRPr sz="3200"/>
            </a:lvl1pPr>
            <a:lvl2pPr>
              <a:defRPr sz="28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676401"/>
            <a:ext cx="4011084" cy="48768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42412802"/>
      </p:ext>
    </p:extLst>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30174400"/>
      </p:ext>
    </p:extLst>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endParaRPr lang="en-US">
              <a:solidFill>
                <a:prstClr val="black"/>
              </a:solidFill>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F70FBD85-7FF4-40AC-94C6-23BF633C6D6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763648405"/>
      </p:ext>
    </p:extLst>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endParaRPr lang="en-US">
              <a:solidFill>
                <a:prstClr val="black"/>
              </a:solidFill>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F70FBD85-7FF4-40AC-94C6-23BF633C6D67}"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847474233"/>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7" descr="BG01"/>
          <p:cNvPicPr>
            <a:picLocks noChangeAspect="1" noChangeArrowheads="1"/>
          </p:cNvPicPr>
          <p:nvPr/>
        </p:nvPicPr>
        <p:blipFill>
          <a:blip r:embed="rId13" cstate="print"/>
          <a:srcRect/>
          <a:stretch>
            <a:fillRect/>
          </a:stretch>
        </p:blipFill>
        <p:spPr bwMode="auto">
          <a:xfrm>
            <a:off x="0" y="0"/>
            <a:ext cx="12192000" cy="6858000"/>
          </a:xfrm>
          <a:prstGeom prst="rect">
            <a:avLst/>
          </a:prstGeom>
          <a:noFill/>
          <a:ln w="9525">
            <a:noFill/>
            <a:miter lim="800000"/>
            <a:headEnd/>
            <a:tailEnd/>
          </a:ln>
        </p:spPr>
      </p:pic>
      <p:sp>
        <p:nvSpPr>
          <p:cNvPr id="2" name="Title Placeholder 1"/>
          <p:cNvSpPr>
            <a:spLocks noGrp="1"/>
          </p:cNvSpPr>
          <p:nvPr>
            <p:ph type="title"/>
          </p:nvPr>
        </p:nvSpPr>
        <p:spPr>
          <a:xfrm>
            <a:off x="609600" y="762000"/>
            <a:ext cx="10972800" cy="6858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876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12366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fade thruBlk="1"/>
  </p:transition>
  <p:hf sldNum="0" hdr="0" dt="0"/>
  <p:txStyles>
    <p:titleStyle>
      <a:lvl1pPr algn="ctr" defTabSz="914400" rtl="0" eaLnBrk="1" latinLnBrk="0" hangingPunct="1">
        <a:spcBef>
          <a:spcPct val="0"/>
        </a:spcBef>
        <a:buNone/>
        <a:defRPr sz="44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Courier New" pitchFamily="49" charset="0"/>
        <a:buChar char="o"/>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itchFamily="2" charset="2"/>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SzPct val="70000"/>
        <a:buFont typeface="Wingdings" pitchFamily="2" charset="2"/>
        <a:buChar char="q"/>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E0491D-BF88-E690-B78D-0A5779D95303}"/>
              </a:ext>
            </a:extLst>
          </p:cNvPr>
          <p:cNvSpPr>
            <a:spLocks noGrp="1"/>
          </p:cNvSpPr>
          <p:nvPr>
            <p:ph idx="1"/>
          </p:nvPr>
        </p:nvSpPr>
        <p:spPr>
          <a:xfrm>
            <a:off x="609600" y="1219201"/>
            <a:ext cx="10972800" cy="5257802"/>
          </a:xfrm>
        </p:spPr>
        <p:txBody>
          <a:bodyPr vert="horz" lIns="91440" tIns="45720" rIns="91440" bIns="45720" rtlCol="0" anchor="t">
            <a:normAutofit/>
          </a:bodyPr>
          <a:lstStyle/>
          <a:p>
            <a:pPr marL="0" indent="0" algn="ctr">
              <a:buNone/>
            </a:pPr>
            <a:r>
              <a:rPr lang="en-US" sz="4000" b="1" dirty="0">
                <a:latin typeface="Times New Roman" panose="02020603050405020304" pitchFamily="18" charset="0"/>
                <a:ea typeface="Calibri"/>
                <a:cs typeface="Times New Roman" panose="02020603050405020304" pitchFamily="18" charset="0"/>
              </a:rPr>
              <a:t>BSCS Methods of Research</a:t>
            </a:r>
          </a:p>
          <a:p>
            <a:pPr marL="0" indent="0" algn="ctr">
              <a:buNone/>
            </a:pPr>
            <a:r>
              <a:rPr lang="en-US" sz="4000" b="1" dirty="0">
                <a:latin typeface="Times New Roman" panose="02020603050405020304" pitchFamily="18" charset="0"/>
                <a:ea typeface="Calibri"/>
                <a:cs typeface="Times New Roman" panose="02020603050405020304" pitchFamily="18" charset="0"/>
              </a:rPr>
              <a:t>Mock Defense</a:t>
            </a:r>
          </a:p>
          <a:p>
            <a:pPr marL="0" indent="0" algn="ctr">
              <a:buNone/>
            </a:pPr>
            <a:endParaRPr lang="en-US" dirty="0">
              <a:latin typeface="Times New Roman" panose="02020603050405020304" pitchFamily="18" charset="0"/>
              <a:ea typeface="Calibri"/>
              <a:cs typeface="Times New Roman" panose="02020603050405020304" pitchFamily="18" charset="0"/>
            </a:endParaRPr>
          </a:p>
          <a:p>
            <a:pPr marL="0" indent="0" algn="ctr">
              <a:buNone/>
            </a:pPr>
            <a:r>
              <a:rPr lang="en-US" sz="3000" dirty="0">
                <a:latin typeface="Times New Roman"/>
                <a:ea typeface="Calibri"/>
                <a:cs typeface="Times New Roman"/>
              </a:rPr>
              <a:t>List of Group Members:</a:t>
            </a:r>
          </a:p>
          <a:p>
            <a:pPr marL="0" indent="0">
              <a:buNone/>
            </a:pPr>
            <a:r>
              <a:rPr lang="en-US" sz="3000" dirty="0">
                <a:latin typeface="Times New Roman" panose="02020603050405020304" pitchFamily="18" charset="0"/>
                <a:ea typeface="Calibri"/>
                <a:cs typeface="Times New Roman" panose="02020603050405020304" pitchFamily="18" charset="0"/>
              </a:rPr>
              <a:t>Project Manager : Accad, Glenn Marco B.</a:t>
            </a:r>
          </a:p>
          <a:p>
            <a:pPr marL="0" indent="0">
              <a:buNone/>
            </a:pPr>
            <a:r>
              <a:rPr lang="en-US" sz="3000" dirty="0">
                <a:latin typeface="Times New Roman" panose="02020603050405020304" pitchFamily="18" charset="0"/>
                <a:ea typeface="Calibri"/>
                <a:cs typeface="Times New Roman" panose="02020603050405020304" pitchFamily="18" charset="0"/>
              </a:rPr>
              <a:t>Programmer Specialist : Tayag, Jose Mari Christian V.</a:t>
            </a:r>
          </a:p>
          <a:p>
            <a:pPr marL="0" indent="0">
              <a:buNone/>
            </a:pPr>
            <a:r>
              <a:rPr lang="en-US" sz="3000" dirty="0">
                <a:latin typeface="Times New Roman"/>
                <a:ea typeface="Calibri"/>
                <a:cs typeface="Times New Roman"/>
              </a:rPr>
              <a:t>System Analyst Specialist : </a:t>
            </a:r>
            <a:r>
              <a:rPr lang="en-US" sz="3000" dirty="0" err="1">
                <a:latin typeface="Times New Roman"/>
                <a:ea typeface="Calibri"/>
                <a:cs typeface="Times New Roman"/>
              </a:rPr>
              <a:t>Mamauag</a:t>
            </a:r>
            <a:r>
              <a:rPr lang="en-US" sz="3000" dirty="0">
                <a:latin typeface="Times New Roman"/>
                <a:ea typeface="Calibri"/>
                <a:cs typeface="Times New Roman"/>
              </a:rPr>
              <a:t>, Jefferson G.</a:t>
            </a:r>
          </a:p>
          <a:p>
            <a:pPr marL="0" indent="0">
              <a:buNone/>
            </a:pPr>
            <a:r>
              <a:rPr lang="en-US" sz="3000" dirty="0">
                <a:latin typeface="Times New Roman" panose="02020603050405020304" pitchFamily="18" charset="0"/>
                <a:ea typeface="Calibri"/>
                <a:cs typeface="Times New Roman" panose="02020603050405020304" pitchFamily="18" charset="0"/>
              </a:rPr>
              <a:t>Quality Assurance Specialist : Gallano, Adrian V.</a:t>
            </a:r>
          </a:p>
        </p:txBody>
      </p:sp>
      <p:sp>
        <p:nvSpPr>
          <p:cNvPr id="4" name="Footer Placeholder 3">
            <a:extLst>
              <a:ext uri="{FF2B5EF4-FFF2-40B4-BE49-F238E27FC236}">
                <a16:creationId xmlns:a16="http://schemas.microsoft.com/office/drawing/2014/main" id="{DADBC192-1C0C-084D-C845-72829914CE3C}"/>
              </a:ext>
            </a:extLst>
          </p:cNvPr>
          <p:cNvSpPr>
            <a:spLocks noGrp="1"/>
          </p:cNvSpPr>
          <p:nvPr>
            <p:ph type="ftr" sz="quarter" idx="11"/>
          </p:nvPr>
        </p:nvSpPr>
        <p:spPr>
          <a:xfrm>
            <a:off x="288365" y="6289116"/>
            <a:ext cx="3860800" cy="365125"/>
          </a:xfrm>
        </p:spPr>
        <p:txBody>
          <a:bodyPr lIns="91440" tIns="45720" rIns="91440" bIns="45720" anchor="t"/>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268111493"/>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796834" y="2514601"/>
            <a:ext cx="10363200" cy="147002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j-cs"/>
              </a:defRPr>
            </a:lvl1pPr>
          </a:lstStyle>
          <a:p>
            <a:r>
              <a:rPr lang="en-US"/>
              <a:t>SANDEE: AN EDUCATIONAL 2D OPEN WORLD SURVIVAL CRAFTING GAME FOR LUA AND PYTHON</a:t>
            </a:r>
            <a:endParaRPr lang="en-PH"/>
          </a:p>
        </p:txBody>
      </p:sp>
      <p:sp>
        <p:nvSpPr>
          <p:cNvPr id="4" name="Footer Placeholder 3">
            <a:extLst>
              <a:ext uri="{FF2B5EF4-FFF2-40B4-BE49-F238E27FC236}">
                <a16:creationId xmlns:a16="http://schemas.microsoft.com/office/drawing/2014/main" id="{C09FB484-2C92-4FD6-9B34-7A7EC8F99208}"/>
              </a:ext>
            </a:extLst>
          </p:cNvPr>
          <p:cNvSpPr>
            <a:spLocks noGrp="1"/>
          </p:cNvSpPr>
          <p:nvPr>
            <p:ph type="ftr" sz="quarter" idx="11"/>
          </p:nvPr>
        </p:nvSpPr>
        <p:spPr>
          <a:xfrm>
            <a:off x="288365" y="6289116"/>
            <a:ext cx="3860800" cy="365125"/>
          </a:xfrm>
        </p:spPr>
        <p:txBody>
          <a:bodyPr lIns="91440" tIns="45720" rIns="91440" bIns="45720" anchor="t"/>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1161056391"/>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9953" y="1714151"/>
            <a:ext cx="10972800" cy="4876801"/>
          </a:xfrm>
        </p:spPr>
        <p:txBody>
          <a:bodyPr vert="horz" lIns="91440" tIns="45720" rIns="91440" bIns="45720" rtlCol="0" anchor="t">
            <a:noAutofit/>
          </a:bodyPr>
          <a:lstStyle/>
          <a:p>
            <a:pPr marL="0" indent="0">
              <a:buNone/>
            </a:pPr>
            <a:r>
              <a:rPr lang="en-US" sz="2500" dirty="0">
                <a:latin typeface="Times New Roman"/>
                <a:cs typeface="Times New Roman"/>
              </a:rPr>
              <a:t>The demand for Lua developers has grown, particularly in the gaming industry (Crudu, 2024), and Python continues to gain popularity for its easy-to-learn syntax.</a:t>
            </a:r>
            <a:endParaRPr lang="en-US" dirty="0"/>
          </a:p>
          <a:p>
            <a:pPr marL="0" indent="0">
              <a:buNone/>
            </a:pPr>
            <a:r>
              <a:rPr lang="en-US" sz="2500" dirty="0">
                <a:latin typeface="Times New Roman"/>
                <a:cs typeface="Times New Roman"/>
              </a:rPr>
              <a:t>Many companies turn to these languages for its superior performance and ease of use.</a:t>
            </a:r>
          </a:p>
          <a:p>
            <a:pPr marL="0" indent="0">
              <a:buNone/>
            </a:pPr>
            <a:r>
              <a:rPr lang="en-US" sz="2500" dirty="0">
                <a:latin typeface="Times New Roman"/>
                <a:cs typeface="Times New Roman"/>
              </a:rPr>
              <a:t>To address this, the study proposes </a:t>
            </a:r>
            <a:r>
              <a:rPr lang="en-US" sz="2500" b="1" dirty="0" err="1">
                <a:latin typeface="Times New Roman"/>
                <a:cs typeface="Times New Roman"/>
              </a:rPr>
              <a:t>SandEE</a:t>
            </a:r>
            <a:r>
              <a:rPr lang="en-US" sz="2500" dirty="0">
                <a:latin typeface="Times New Roman"/>
                <a:cs typeface="Times New Roman"/>
              </a:rPr>
              <a:t>, An Educational 2D Open World Survival Crafting Game for Lua and Python designed as an educational tool for learning Lua and Python. The game introduces programming concepts through interactive gameplay, where players write and run code that directly affects the game environment. Embedded interpreters for both languages provide realistic, visual feedback, while a mission system guides learners through progressive challenges, rewarding them as they advance their programming skills.</a:t>
            </a:r>
          </a:p>
        </p:txBody>
      </p:sp>
      <p:sp>
        <p:nvSpPr>
          <p:cNvPr id="7" name="Title 1"/>
          <p:cNvSpPr>
            <a:spLocks noGrp="1"/>
          </p:cNvSpPr>
          <p:nvPr>
            <p:ph type="title"/>
          </p:nvPr>
        </p:nvSpPr>
        <p:spPr>
          <a:xfrm>
            <a:off x="609600" y="905435"/>
            <a:ext cx="10972800" cy="685800"/>
          </a:xfrm>
        </p:spPr>
        <p:txBody>
          <a:bodyPr>
            <a:noAutofit/>
          </a:bodyPr>
          <a:lstStyle/>
          <a:p>
            <a:r>
              <a:rPr lang="en-PH"/>
              <a:t>Introduction</a:t>
            </a:r>
          </a:p>
        </p:txBody>
      </p:sp>
      <p:sp>
        <p:nvSpPr>
          <p:cNvPr id="8" name="Footer Placeholder 3">
            <a:extLst>
              <a:ext uri="{FF2B5EF4-FFF2-40B4-BE49-F238E27FC236}">
                <a16:creationId xmlns:a16="http://schemas.microsoft.com/office/drawing/2014/main" id="{4677B2D1-E337-4356-9F91-7FF67153FFC5}"/>
              </a:ext>
            </a:extLst>
          </p:cNvPr>
          <p:cNvSpPr>
            <a:spLocks noGrp="1"/>
          </p:cNvSpPr>
          <p:nvPr>
            <p:ph type="ftr" sz="quarter" idx="11"/>
          </p:nvPr>
        </p:nvSpPr>
        <p:spPr>
          <a:xfrm>
            <a:off x="288365" y="6289116"/>
            <a:ext cx="3860800" cy="365125"/>
          </a:xfrm>
        </p:spPr>
        <p:txBody>
          <a:bodyPr lIns="91440" tIns="45720" rIns="91440" bIns="45720" anchor="t"/>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171083451"/>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3717" y="566395"/>
            <a:ext cx="10972800" cy="685800"/>
          </a:xfrm>
        </p:spPr>
        <p:txBody>
          <a:bodyPr>
            <a:normAutofit fontScale="90000"/>
          </a:bodyPr>
          <a:lstStyle/>
          <a:p>
            <a:r>
              <a:rPr lang="en-US"/>
              <a:t>Background of the Problem</a:t>
            </a:r>
          </a:p>
        </p:txBody>
      </p:sp>
      <p:sp>
        <p:nvSpPr>
          <p:cNvPr id="9" name="Footer Placeholder 3">
            <a:extLst>
              <a:ext uri="{FF2B5EF4-FFF2-40B4-BE49-F238E27FC236}">
                <a16:creationId xmlns:a16="http://schemas.microsoft.com/office/drawing/2014/main" id="{239C0605-FC30-4381-90E6-94A599B5CADE}"/>
              </a:ext>
            </a:extLst>
          </p:cNvPr>
          <p:cNvSpPr>
            <a:spLocks noGrp="1"/>
          </p:cNvSpPr>
          <p:nvPr>
            <p:ph type="ftr" sz="quarter" idx="11"/>
          </p:nvPr>
        </p:nvSpPr>
        <p:spPr>
          <a:xfrm>
            <a:off x="288365" y="6289116"/>
            <a:ext cx="3860800" cy="365125"/>
          </a:xfrm>
        </p:spPr>
        <p:txBody>
          <a:bodyPr lIns="91440" tIns="45720" rIns="91440" bIns="45720" anchor="t"/>
          <a:lstStyle/>
          <a:p>
            <a:r>
              <a:rPr lang="en-US">
                <a:solidFill>
                  <a:prstClr val="black"/>
                </a:solidFill>
                <a:ea typeface="Calibri"/>
                <a:cs typeface="Calibri"/>
              </a:rPr>
              <a:t>STI College San Jose Del Monte</a:t>
            </a:r>
            <a:endParaRPr lang="en-US">
              <a:solidFill>
                <a:prstClr val="black"/>
              </a:solidFill>
            </a:endParaRPr>
          </a:p>
        </p:txBody>
      </p:sp>
      <p:sp>
        <p:nvSpPr>
          <p:cNvPr id="3" name="Content Placeholder 2">
            <a:extLst>
              <a:ext uri="{FF2B5EF4-FFF2-40B4-BE49-F238E27FC236}">
                <a16:creationId xmlns:a16="http://schemas.microsoft.com/office/drawing/2014/main" id="{49F2C6E6-9CC1-5438-7E8A-170FE5B0988E}"/>
              </a:ext>
            </a:extLst>
          </p:cNvPr>
          <p:cNvSpPr>
            <a:spLocks noGrp="1"/>
          </p:cNvSpPr>
          <p:nvPr>
            <p:ph idx="1"/>
          </p:nvPr>
        </p:nvSpPr>
        <p:spPr>
          <a:xfrm>
            <a:off x="493059" y="1693801"/>
            <a:ext cx="11410576" cy="4876801"/>
          </a:xfrm>
        </p:spPr>
        <p:txBody>
          <a:bodyPr vert="horz" lIns="91440" tIns="45720" rIns="91440" bIns="45720" rtlCol="0" anchor="t">
            <a:normAutofit fontScale="92500" lnSpcReduction="10000"/>
          </a:bodyPr>
          <a:lstStyle/>
          <a:p>
            <a:pPr marL="0" indent="0">
              <a:buNone/>
            </a:pPr>
            <a:r>
              <a:rPr lang="en-US" dirty="0">
                <a:latin typeface="Times New Roman"/>
                <a:cs typeface="Times New Roman"/>
              </a:rPr>
              <a:t>The rapid advancement of technology has significantly transformed educational methodologies. The traditional curriculum for programming languages such as Lua and Python, which often emphasizes theoretical concepts and static exercises, struggles to fully engage students or prepare them for real-world problem-solving. </a:t>
            </a:r>
            <a:endParaRPr lang="en-PH" dirty="0">
              <a:latin typeface="Times New Roman"/>
              <a:ea typeface="Calibri"/>
              <a:cs typeface="Times New Roman"/>
            </a:endParaRPr>
          </a:p>
          <a:p>
            <a:pPr marL="0" indent="0">
              <a:buNone/>
            </a:pPr>
            <a:r>
              <a:rPr lang="en-US" dirty="0">
                <a:latin typeface="Times New Roman"/>
                <a:cs typeface="Times New Roman"/>
              </a:rPr>
              <a:t>In contrast, educational games have emerged as an innovative approach to learning. The proponents have conducted a survey with the Grade 11 and Grade 12 ICT and STEM students of </a:t>
            </a:r>
            <a:r>
              <a:rPr lang="en-US" dirty="0" err="1">
                <a:latin typeface="Times New Roman"/>
                <a:cs typeface="Times New Roman"/>
              </a:rPr>
              <a:t>Yverdon</a:t>
            </a:r>
            <a:r>
              <a:rPr lang="en-US" dirty="0">
                <a:latin typeface="Times New Roman"/>
                <a:cs typeface="Times New Roman"/>
              </a:rPr>
              <a:t> De </a:t>
            </a:r>
            <a:r>
              <a:rPr lang="en-US" dirty="0" err="1">
                <a:latin typeface="Times New Roman"/>
                <a:cs typeface="Times New Roman"/>
              </a:rPr>
              <a:t>Pestallozi</a:t>
            </a:r>
            <a:r>
              <a:rPr lang="en-US" dirty="0">
                <a:latin typeface="Times New Roman"/>
                <a:cs typeface="Times New Roman"/>
              </a:rPr>
              <a:t> School Inc. The results shows that out of 104 students, over 70% are not familiar with Lua. However, the results also show that over 70% of the students are also interested in learning both Lua and Python.</a:t>
            </a:r>
            <a:endParaRPr lang="en-US" dirty="0">
              <a:latin typeface="Times New Roman"/>
              <a:ea typeface="Calibri"/>
              <a:cs typeface="Times New Roman"/>
            </a:endParaRPr>
          </a:p>
        </p:txBody>
      </p:sp>
    </p:spTree>
    <p:extLst>
      <p:ext uri="{BB962C8B-B14F-4D97-AF65-F5344CB8AC3E}">
        <p14:creationId xmlns:p14="http://schemas.microsoft.com/office/powerpoint/2010/main" val="2496496024"/>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F1F1-6B8B-6DC7-2A6A-EAB66C43B68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24BFAD8-70D9-F7D2-52A1-53F62B007097}"/>
              </a:ext>
            </a:extLst>
          </p:cNvPr>
          <p:cNvSpPr>
            <a:spLocks noGrp="1"/>
          </p:cNvSpPr>
          <p:nvPr>
            <p:ph type="title"/>
          </p:nvPr>
        </p:nvSpPr>
        <p:spPr>
          <a:xfrm>
            <a:off x="833717" y="566395"/>
            <a:ext cx="10972800" cy="685800"/>
          </a:xfrm>
        </p:spPr>
        <p:txBody>
          <a:bodyPr>
            <a:normAutofit fontScale="90000"/>
          </a:bodyPr>
          <a:lstStyle/>
          <a:p>
            <a:r>
              <a:rPr lang="en-US"/>
              <a:t>General Problem</a:t>
            </a:r>
          </a:p>
        </p:txBody>
      </p:sp>
      <p:sp>
        <p:nvSpPr>
          <p:cNvPr id="9" name="Footer Placeholder 3">
            <a:extLst>
              <a:ext uri="{FF2B5EF4-FFF2-40B4-BE49-F238E27FC236}">
                <a16:creationId xmlns:a16="http://schemas.microsoft.com/office/drawing/2014/main" id="{BBD3844D-E619-878C-ECEE-38146B2EAE33}"/>
              </a:ext>
            </a:extLst>
          </p:cNvPr>
          <p:cNvSpPr>
            <a:spLocks noGrp="1"/>
          </p:cNvSpPr>
          <p:nvPr>
            <p:ph type="ftr" sz="quarter" idx="11"/>
          </p:nvPr>
        </p:nvSpPr>
        <p:spPr>
          <a:xfrm>
            <a:off x="288365" y="6289116"/>
            <a:ext cx="3860800" cy="365125"/>
          </a:xfrm>
        </p:spPr>
        <p:txBody>
          <a:bodyPr lIns="91440" tIns="45720" rIns="91440" bIns="45720" anchor="t"/>
          <a:lstStyle/>
          <a:p>
            <a:r>
              <a:rPr lang="en-US">
                <a:solidFill>
                  <a:prstClr val="black"/>
                </a:solidFill>
                <a:ea typeface="Calibri"/>
                <a:cs typeface="Calibri"/>
              </a:rPr>
              <a:t>STI College San Jose Del Monte</a:t>
            </a:r>
            <a:endParaRPr lang="en-US">
              <a:solidFill>
                <a:prstClr val="black"/>
              </a:solidFill>
            </a:endParaRPr>
          </a:p>
        </p:txBody>
      </p:sp>
      <p:sp>
        <p:nvSpPr>
          <p:cNvPr id="3" name="Content Placeholder 2">
            <a:extLst>
              <a:ext uri="{FF2B5EF4-FFF2-40B4-BE49-F238E27FC236}">
                <a16:creationId xmlns:a16="http://schemas.microsoft.com/office/drawing/2014/main" id="{2FE3D0F4-A474-7B12-76FD-2C32E243ECA8}"/>
              </a:ext>
            </a:extLst>
          </p:cNvPr>
          <p:cNvSpPr>
            <a:spLocks noGrp="1"/>
          </p:cNvSpPr>
          <p:nvPr>
            <p:ph idx="1"/>
          </p:nvPr>
        </p:nvSpPr>
        <p:spPr>
          <a:xfrm>
            <a:off x="493059" y="1693801"/>
            <a:ext cx="11410576" cy="4876801"/>
          </a:xfrm>
        </p:spPr>
        <p:txBody>
          <a:bodyPr vert="horz" lIns="91440" tIns="45720" rIns="91440" bIns="45720" rtlCol="0" anchor="t">
            <a:noAutofit/>
          </a:bodyPr>
          <a:lstStyle/>
          <a:p>
            <a:pPr marL="0" indent="0">
              <a:buNone/>
            </a:pPr>
            <a:r>
              <a:rPr lang="en-US"/>
              <a:t>How to develop a game to supplement the high interest in learning Lua and Python through a game?</a:t>
            </a:r>
          </a:p>
          <a:p>
            <a:pPr marL="0" indent="0">
              <a:buNone/>
            </a:pPr>
            <a:endParaRPr lang="en-PH"/>
          </a:p>
        </p:txBody>
      </p:sp>
    </p:spTree>
    <p:extLst>
      <p:ext uri="{BB962C8B-B14F-4D97-AF65-F5344CB8AC3E}">
        <p14:creationId xmlns:p14="http://schemas.microsoft.com/office/powerpoint/2010/main" val="3875857840"/>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CCBF9-6C47-DDA4-517E-9CEEF6217BC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0D6CA0E-E9ED-55E0-FAEB-ED735491ED3C}"/>
              </a:ext>
            </a:extLst>
          </p:cNvPr>
          <p:cNvSpPr>
            <a:spLocks noGrp="1"/>
          </p:cNvSpPr>
          <p:nvPr>
            <p:ph type="title"/>
          </p:nvPr>
        </p:nvSpPr>
        <p:spPr>
          <a:xfrm>
            <a:off x="833717" y="566395"/>
            <a:ext cx="10972800" cy="685800"/>
          </a:xfrm>
        </p:spPr>
        <p:txBody>
          <a:bodyPr>
            <a:normAutofit fontScale="90000"/>
          </a:bodyPr>
          <a:lstStyle/>
          <a:p>
            <a:r>
              <a:rPr lang="en-US"/>
              <a:t>Specific Problem</a:t>
            </a:r>
          </a:p>
        </p:txBody>
      </p:sp>
      <p:sp>
        <p:nvSpPr>
          <p:cNvPr id="9" name="Footer Placeholder 3">
            <a:extLst>
              <a:ext uri="{FF2B5EF4-FFF2-40B4-BE49-F238E27FC236}">
                <a16:creationId xmlns:a16="http://schemas.microsoft.com/office/drawing/2014/main" id="{19204CCF-AEA2-E0C7-1D74-9A0A91584FDA}"/>
              </a:ext>
            </a:extLst>
          </p:cNvPr>
          <p:cNvSpPr>
            <a:spLocks noGrp="1"/>
          </p:cNvSpPr>
          <p:nvPr>
            <p:ph type="ftr" sz="quarter" idx="11"/>
          </p:nvPr>
        </p:nvSpPr>
        <p:spPr>
          <a:xfrm>
            <a:off x="288365" y="6289116"/>
            <a:ext cx="3860800" cy="365125"/>
          </a:xfrm>
        </p:spPr>
        <p:txBody>
          <a:bodyPr lIns="91440" tIns="45720" rIns="91440" bIns="45720" anchor="t"/>
          <a:lstStyle/>
          <a:p>
            <a:r>
              <a:rPr lang="en-US">
                <a:solidFill>
                  <a:prstClr val="black"/>
                </a:solidFill>
                <a:ea typeface="Calibri"/>
                <a:cs typeface="Calibri"/>
              </a:rPr>
              <a:t>STI College San Jose Del Monte</a:t>
            </a:r>
            <a:endParaRPr lang="en-US">
              <a:solidFill>
                <a:prstClr val="black"/>
              </a:solidFill>
            </a:endParaRPr>
          </a:p>
        </p:txBody>
      </p:sp>
      <p:sp>
        <p:nvSpPr>
          <p:cNvPr id="3" name="Content Placeholder 2">
            <a:extLst>
              <a:ext uri="{FF2B5EF4-FFF2-40B4-BE49-F238E27FC236}">
                <a16:creationId xmlns:a16="http://schemas.microsoft.com/office/drawing/2014/main" id="{D7FBA08B-F67C-C9C3-2279-78F2AE8259A4}"/>
              </a:ext>
            </a:extLst>
          </p:cNvPr>
          <p:cNvSpPr>
            <a:spLocks noGrp="1"/>
          </p:cNvSpPr>
          <p:nvPr>
            <p:ph idx="1"/>
          </p:nvPr>
        </p:nvSpPr>
        <p:spPr>
          <a:xfrm>
            <a:off x="493059" y="1693801"/>
            <a:ext cx="11410576" cy="4876801"/>
          </a:xfrm>
        </p:spPr>
        <p:txBody>
          <a:bodyPr vert="horz" lIns="91440" tIns="45720" rIns="91440" bIns="45720" rtlCol="0" anchor="t">
            <a:noAutofit/>
          </a:bodyPr>
          <a:lstStyle/>
          <a:p>
            <a:pPr lvl="0"/>
            <a:r>
              <a:rPr lang="en-US" sz="3000">
                <a:latin typeface="Times New Roman" panose="02020603050405020304" pitchFamily="18" charset="0"/>
                <a:cs typeface="Times New Roman" panose="02020603050405020304" pitchFamily="18" charset="0"/>
              </a:rPr>
              <a:t>How to develop a game that enhances programming skills by providing hands-on learning where concepts are learned through experience?</a:t>
            </a:r>
            <a:endParaRPr lang="en-PH" sz="3000">
              <a:latin typeface="Times New Roman" panose="02020603050405020304" pitchFamily="18" charset="0"/>
              <a:cs typeface="Times New Roman" panose="02020603050405020304" pitchFamily="18" charset="0"/>
            </a:endParaRPr>
          </a:p>
          <a:p>
            <a:pPr lvl="0"/>
            <a:r>
              <a:rPr lang="en-US" sz="3000">
                <a:latin typeface="Times New Roman" panose="02020603050405020304" pitchFamily="18" charset="0"/>
                <a:cs typeface="Times New Roman" panose="02020603050405020304" pitchFamily="18" charset="0"/>
              </a:rPr>
              <a:t>How to develop a game that provides direct visual feedback as players learn and apply programming concepts?</a:t>
            </a:r>
            <a:endParaRPr lang="en-PH" sz="3000">
              <a:latin typeface="Times New Roman" panose="02020603050405020304" pitchFamily="18" charset="0"/>
              <a:cs typeface="Times New Roman" panose="02020603050405020304" pitchFamily="18" charset="0"/>
            </a:endParaRPr>
          </a:p>
          <a:p>
            <a:pPr lvl="0"/>
            <a:r>
              <a:rPr lang="en-PH" sz="3000">
                <a:latin typeface="Times New Roman" panose="02020603050405020304" pitchFamily="18" charset="0"/>
                <a:cs typeface="Times New Roman" panose="02020603050405020304" pitchFamily="18" charset="0"/>
              </a:rPr>
              <a:t>How to develop a game that realistically responds to player errors by embedding Lua and Python interpreters within the system?</a:t>
            </a:r>
            <a:r>
              <a:rPr lang="en-US" sz="3000">
                <a:latin typeface="Times New Roman" panose="02020603050405020304" pitchFamily="18" charset="0"/>
                <a:cs typeface="Times New Roman" panose="02020603050405020304" pitchFamily="18" charset="0"/>
              </a:rPr>
              <a:t> </a:t>
            </a:r>
            <a:endParaRPr lang="en-PH" sz="3000">
              <a:latin typeface="Times New Roman" panose="02020603050405020304" pitchFamily="18" charset="0"/>
              <a:cs typeface="Times New Roman" panose="02020603050405020304" pitchFamily="18" charset="0"/>
            </a:endParaRPr>
          </a:p>
          <a:p>
            <a:pPr lvl="0"/>
            <a:r>
              <a:rPr lang="en-US" sz="3000">
                <a:latin typeface="Times New Roman" panose="02020603050405020304" pitchFamily="18" charset="0"/>
                <a:cs typeface="Times New Roman" panose="02020603050405020304" pitchFamily="18" charset="0"/>
              </a:rPr>
              <a:t>How to develop a game that introduces the programming structure and syntax of Lua and Python?</a:t>
            </a:r>
            <a:endParaRPr lang="en-PH" sz="3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8432728"/>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9200" y="538935"/>
            <a:ext cx="10972800" cy="685800"/>
          </a:xfrm>
        </p:spPr>
        <p:txBody>
          <a:bodyPr>
            <a:normAutofit fontScale="90000"/>
          </a:bodyPr>
          <a:lstStyle/>
          <a:p>
            <a:r>
              <a:rPr lang="en-PH"/>
              <a:t>Objectives of the Study</a:t>
            </a:r>
            <a:br>
              <a:rPr lang="en-US"/>
            </a:br>
            <a:endParaRPr lang="en-US"/>
          </a:p>
        </p:txBody>
      </p:sp>
      <p:sp>
        <p:nvSpPr>
          <p:cNvPr id="5" name="Footer Placeholder 3">
            <a:extLst>
              <a:ext uri="{FF2B5EF4-FFF2-40B4-BE49-F238E27FC236}">
                <a16:creationId xmlns:a16="http://schemas.microsoft.com/office/drawing/2014/main" id="{C2164358-7530-4EDD-97C4-67188CC432AA}"/>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2" name="Content Placeholder 1">
            <a:extLst>
              <a:ext uri="{FF2B5EF4-FFF2-40B4-BE49-F238E27FC236}">
                <a16:creationId xmlns:a16="http://schemas.microsoft.com/office/drawing/2014/main" id="{79AC4F92-D192-4855-D5F1-875584C2F19C}"/>
              </a:ext>
            </a:extLst>
          </p:cNvPr>
          <p:cNvSpPr>
            <a:spLocks noGrp="1"/>
          </p:cNvSpPr>
          <p:nvPr>
            <p:ph idx="1"/>
          </p:nvPr>
        </p:nvSpPr>
        <p:spPr>
          <a:xfrm>
            <a:off x="609600" y="1976535"/>
            <a:ext cx="10972800" cy="4876801"/>
          </a:xfrm>
        </p:spPr>
        <p:txBody>
          <a:bodyPr/>
          <a:lstStyle/>
          <a:p>
            <a:pPr marL="0" indent="0">
              <a:buNone/>
            </a:pPr>
            <a:r>
              <a:rPr lang="en-PH"/>
              <a:t>To develop a game to supplement the high interest in learning Lua and Python 	through a game.</a:t>
            </a:r>
            <a:endParaRPr lang="en-US"/>
          </a:p>
        </p:txBody>
      </p:sp>
      <p:sp>
        <p:nvSpPr>
          <p:cNvPr id="3" name="Title 3">
            <a:extLst>
              <a:ext uri="{FF2B5EF4-FFF2-40B4-BE49-F238E27FC236}">
                <a16:creationId xmlns:a16="http://schemas.microsoft.com/office/drawing/2014/main" id="{911796F6-94D3-63BE-0941-40003663E6B6}"/>
              </a:ext>
            </a:extLst>
          </p:cNvPr>
          <p:cNvSpPr txBox="1">
            <a:spLocks/>
          </p:cNvSpPr>
          <p:nvPr/>
        </p:nvSpPr>
        <p:spPr>
          <a:xfrm>
            <a:off x="609459" y="1224735"/>
            <a:ext cx="10972800" cy="685800"/>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b="1" kern="1200">
                <a:solidFill>
                  <a:schemeClr val="tx1"/>
                </a:solidFill>
                <a:latin typeface="+mj-lt"/>
                <a:ea typeface="+mj-ea"/>
                <a:cs typeface="+mj-cs"/>
              </a:defRPr>
            </a:lvl1pPr>
          </a:lstStyle>
          <a:p>
            <a:pPr algn="l"/>
            <a:r>
              <a:rPr lang="en-US" sz="3200"/>
              <a:t>General Objectives</a:t>
            </a:r>
          </a:p>
        </p:txBody>
      </p:sp>
    </p:spTree>
    <p:extLst>
      <p:ext uri="{BB962C8B-B14F-4D97-AF65-F5344CB8AC3E}">
        <p14:creationId xmlns:p14="http://schemas.microsoft.com/office/powerpoint/2010/main" val="241641147"/>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547899"/>
            <a:ext cx="10972800" cy="685800"/>
          </a:xfrm>
        </p:spPr>
        <p:txBody>
          <a:bodyPr>
            <a:normAutofit fontScale="90000"/>
          </a:bodyPr>
          <a:lstStyle/>
          <a:p>
            <a:r>
              <a:rPr lang="en-US"/>
              <a:t>Specific Objectives</a:t>
            </a:r>
          </a:p>
        </p:txBody>
      </p:sp>
      <p:sp>
        <p:nvSpPr>
          <p:cNvPr id="5" name="Footer Placeholder 3">
            <a:extLst>
              <a:ext uri="{FF2B5EF4-FFF2-40B4-BE49-F238E27FC236}">
                <a16:creationId xmlns:a16="http://schemas.microsoft.com/office/drawing/2014/main" id="{C2164358-7530-4EDD-97C4-67188CC432AA}"/>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
        <p:nvSpPr>
          <p:cNvPr id="2" name="Content Placeholder 1">
            <a:extLst>
              <a:ext uri="{FF2B5EF4-FFF2-40B4-BE49-F238E27FC236}">
                <a16:creationId xmlns:a16="http://schemas.microsoft.com/office/drawing/2014/main" id="{79AC4F92-D192-4855-D5F1-875584C2F19C}"/>
              </a:ext>
            </a:extLst>
          </p:cNvPr>
          <p:cNvSpPr>
            <a:spLocks noGrp="1"/>
          </p:cNvSpPr>
          <p:nvPr>
            <p:ph idx="1"/>
          </p:nvPr>
        </p:nvSpPr>
        <p:spPr/>
        <p:txBody>
          <a:bodyPr vert="horz" lIns="91440" tIns="45720" rIns="91440" bIns="45720" rtlCol="0" anchor="t">
            <a:normAutofit/>
          </a:bodyPr>
          <a:lstStyle/>
          <a:p>
            <a:pPr lvl="0"/>
            <a:r>
              <a:rPr lang="en-US"/>
              <a:t>To develop a game that enhances programming skills by providing hands-on learning where concepts are learned through experience.</a:t>
            </a:r>
            <a:endParaRPr lang="en-PH"/>
          </a:p>
          <a:p>
            <a:pPr lvl="0"/>
            <a:r>
              <a:rPr lang="en-US"/>
              <a:t>To develop a game that provides direct visual feedback as players learn and apply programming.</a:t>
            </a:r>
            <a:endParaRPr lang="en-US">
              <a:ea typeface="Calibri"/>
              <a:cs typeface="Calibri"/>
            </a:endParaRPr>
          </a:p>
          <a:p>
            <a:pPr lvl="0"/>
            <a:r>
              <a:rPr lang="en-PH"/>
              <a:t>To develop a game that realistically responds to player errors by embedding Lua and Python interpreters within the system.</a:t>
            </a:r>
            <a:endParaRPr lang="en-PH">
              <a:ea typeface="Calibri"/>
              <a:cs typeface="Calibri"/>
            </a:endParaRPr>
          </a:p>
          <a:p>
            <a:pPr lvl="0"/>
            <a:r>
              <a:rPr lang="en-US"/>
              <a:t>To develop a game that introduces the programming structure and syntax of Lua and Python.</a:t>
            </a:r>
            <a:endParaRPr lang="en-US">
              <a:ea typeface="Calibri"/>
              <a:cs typeface="Calibri"/>
            </a:endParaRPr>
          </a:p>
        </p:txBody>
      </p:sp>
    </p:spTree>
    <p:extLst>
      <p:ext uri="{BB962C8B-B14F-4D97-AF65-F5344CB8AC3E}">
        <p14:creationId xmlns:p14="http://schemas.microsoft.com/office/powerpoint/2010/main" val="3412024488"/>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973C4D1-98CE-C0A7-7753-34F394B67D64}"/>
              </a:ext>
            </a:extLst>
          </p:cNvPr>
          <p:cNvSpPr>
            <a:spLocks noGrp="1"/>
          </p:cNvSpPr>
          <p:nvPr>
            <p:ph idx="1"/>
          </p:nvPr>
        </p:nvSpPr>
        <p:spPr/>
        <p:txBody>
          <a:bodyPr vert="horz" lIns="91440" tIns="45720" rIns="91440" bIns="45720" rtlCol="0" anchor="t">
            <a:normAutofit/>
          </a:bodyPr>
          <a:lstStyle/>
          <a:p>
            <a:pPr lvl="0"/>
            <a:r>
              <a:rPr lang="en-US" b="1" dirty="0"/>
              <a:t>User Account</a:t>
            </a:r>
            <a:endParaRPr lang="en-PH" b="1" dirty="0"/>
          </a:p>
          <a:p>
            <a:pPr lvl="1"/>
            <a:r>
              <a:rPr lang="en-US" dirty="0"/>
              <a:t>Each user can create a unique account using their own username and password.</a:t>
            </a:r>
            <a:endParaRPr lang="en-PH" dirty="0"/>
          </a:p>
          <a:p>
            <a:pPr lvl="0"/>
            <a:r>
              <a:rPr lang="en-US" b="1" dirty="0"/>
              <a:t>Cloud Saves</a:t>
            </a:r>
            <a:endParaRPr lang="en-PH" b="1" dirty="0"/>
          </a:p>
          <a:p>
            <a:pPr lvl="1"/>
            <a:r>
              <a:rPr lang="en-US" dirty="0"/>
              <a:t>The save file of each user will be uploaded to the internet every time the game saves.</a:t>
            </a:r>
            <a:endParaRPr lang="en-PH" dirty="0"/>
          </a:p>
          <a:p>
            <a:pPr lvl="1"/>
            <a:r>
              <a:rPr lang="en-US" dirty="0"/>
              <a:t>The save file of each user is accessible multi-platform.</a:t>
            </a:r>
            <a:endParaRPr lang="en-PH" dirty="0"/>
          </a:p>
          <a:p>
            <a:pPr lvl="1"/>
            <a:r>
              <a:rPr lang="en-US" dirty="0"/>
              <a:t>Cloud saves prioritize the save with the highest amount of stars to prevent conflict.</a:t>
            </a:r>
            <a:endParaRPr lang="en-PH" dirty="0"/>
          </a:p>
          <a:p>
            <a:endParaRPr lang="en-US" dirty="0"/>
          </a:p>
        </p:txBody>
      </p:sp>
      <p:sp>
        <p:nvSpPr>
          <p:cNvPr id="26" name="Title 6"/>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63DC2DDF-714E-4E3D-89F1-69AA16BC57DC}"/>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3101308555"/>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5CEAB-C9FD-6832-A5F7-2CAFF6F004A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359DD84-7A25-E8E0-709F-9145F2D3AEFE}"/>
              </a:ext>
            </a:extLst>
          </p:cNvPr>
          <p:cNvSpPr>
            <a:spLocks noGrp="1"/>
          </p:cNvSpPr>
          <p:nvPr>
            <p:ph idx="1"/>
          </p:nvPr>
        </p:nvSpPr>
        <p:spPr/>
        <p:txBody>
          <a:bodyPr vert="horz" lIns="91440" tIns="45720" rIns="91440" bIns="45720" rtlCol="0" anchor="t">
            <a:normAutofit/>
          </a:bodyPr>
          <a:lstStyle/>
          <a:p>
            <a:pPr lvl="0"/>
            <a:r>
              <a:rPr lang="en-US" b="1" dirty="0"/>
              <a:t>Offline Mode</a:t>
            </a:r>
            <a:endParaRPr lang="en-PH" b="1" dirty="0"/>
          </a:p>
          <a:p>
            <a:pPr lvl="1"/>
            <a:r>
              <a:rPr lang="en-US" dirty="0"/>
              <a:t>Allow the player to play the game offline.</a:t>
            </a:r>
            <a:endParaRPr lang="en-PH" dirty="0"/>
          </a:p>
          <a:p>
            <a:pPr lvl="1"/>
            <a:r>
              <a:rPr lang="en-US" dirty="0"/>
              <a:t>Players can switch to online mode from offline mode.</a:t>
            </a:r>
            <a:endParaRPr lang="en-PH" dirty="0"/>
          </a:p>
          <a:p>
            <a:pPr lvl="0"/>
            <a:r>
              <a:rPr lang="en-US" b="1" dirty="0"/>
              <a:t>Online Mode</a:t>
            </a:r>
            <a:endParaRPr lang="en-PH" b="1" dirty="0"/>
          </a:p>
          <a:p>
            <a:pPr lvl="1"/>
            <a:r>
              <a:rPr lang="en-US" dirty="0"/>
              <a:t>Allows the player to access the leaderboard and cloud saves.</a:t>
            </a:r>
            <a:endParaRPr lang="en-PH" dirty="0"/>
          </a:p>
        </p:txBody>
      </p:sp>
      <p:sp>
        <p:nvSpPr>
          <p:cNvPr id="26" name="Title 6">
            <a:extLst>
              <a:ext uri="{FF2B5EF4-FFF2-40B4-BE49-F238E27FC236}">
                <a16:creationId xmlns:a16="http://schemas.microsoft.com/office/drawing/2014/main" id="{416CD8DD-0BCB-71F3-0222-AA983AB7D4BA}"/>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0274E04D-00E3-6435-5E5E-A6C57CD19570}"/>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1608907992"/>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F7AB8-50A9-C77E-9453-141AAEDDBBEE}"/>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7D61FE6-4136-140D-9D4E-0A0FBD913B2F}"/>
              </a:ext>
            </a:extLst>
          </p:cNvPr>
          <p:cNvSpPr>
            <a:spLocks noGrp="1"/>
          </p:cNvSpPr>
          <p:nvPr>
            <p:ph idx="1"/>
          </p:nvPr>
        </p:nvSpPr>
        <p:spPr/>
        <p:txBody>
          <a:bodyPr vert="horz" lIns="91440" tIns="45720" rIns="91440" bIns="45720" rtlCol="0" anchor="t">
            <a:normAutofit/>
          </a:bodyPr>
          <a:lstStyle/>
          <a:p>
            <a:pPr lvl="0"/>
            <a:r>
              <a:rPr lang="en-US" b="1" dirty="0"/>
              <a:t>Main Menu</a:t>
            </a:r>
            <a:endParaRPr lang="en-PH" b="1" dirty="0"/>
          </a:p>
          <a:p>
            <a:pPr lvl="1"/>
            <a:r>
              <a:rPr lang="en-US" dirty="0"/>
              <a:t>Continue</a:t>
            </a:r>
            <a:endParaRPr lang="en-PH" dirty="0"/>
          </a:p>
          <a:p>
            <a:pPr lvl="2"/>
            <a:r>
              <a:rPr lang="en-US" dirty="0"/>
              <a:t>This allows the player to continue from their recently saved world.</a:t>
            </a:r>
            <a:endParaRPr lang="en-PH" dirty="0"/>
          </a:p>
          <a:p>
            <a:pPr lvl="1"/>
            <a:r>
              <a:rPr lang="en-US" dirty="0"/>
              <a:t>Worlds</a:t>
            </a:r>
            <a:endParaRPr lang="en-PH" dirty="0"/>
          </a:p>
          <a:p>
            <a:pPr lvl="2"/>
            <a:r>
              <a:rPr lang="en-US" dirty="0"/>
              <a:t>This will redirect the user to the saves menu to select their desired save or start a new save.</a:t>
            </a:r>
            <a:endParaRPr lang="en-PH" dirty="0"/>
          </a:p>
        </p:txBody>
      </p:sp>
      <p:sp>
        <p:nvSpPr>
          <p:cNvPr id="26" name="Title 6">
            <a:extLst>
              <a:ext uri="{FF2B5EF4-FFF2-40B4-BE49-F238E27FC236}">
                <a16:creationId xmlns:a16="http://schemas.microsoft.com/office/drawing/2014/main" id="{55F6C12F-466E-B617-3747-33715D94037D}"/>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6856021B-8A4B-0E32-4B3B-0C7F8312555A}"/>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176507684"/>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E9CB7-550B-3AA1-35AF-4254D1E8A86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D47A2A3-751E-260E-A9D3-27C53E482852}"/>
              </a:ext>
            </a:extLst>
          </p:cNvPr>
          <p:cNvSpPr>
            <a:spLocks noGrp="1"/>
          </p:cNvSpPr>
          <p:nvPr>
            <p:ph idx="1"/>
          </p:nvPr>
        </p:nvSpPr>
        <p:spPr/>
        <p:txBody>
          <a:bodyPr vert="horz" lIns="91440" tIns="45720" rIns="91440" bIns="45720" rtlCol="0" anchor="t">
            <a:normAutofit/>
          </a:bodyPr>
          <a:lstStyle/>
          <a:p>
            <a:pPr lvl="1"/>
            <a:r>
              <a:rPr lang="en-US" dirty="0"/>
              <a:t>Leaderboards (Online Mode Only)</a:t>
            </a:r>
            <a:endParaRPr lang="en-PH" dirty="0"/>
          </a:p>
          <a:p>
            <a:pPr lvl="2"/>
            <a:r>
              <a:rPr lang="en-US" dirty="0"/>
              <a:t>List the rankings of player’s acquired blue and yellow stars.</a:t>
            </a:r>
            <a:endParaRPr lang="en-PH" dirty="0"/>
          </a:p>
          <a:p>
            <a:pPr lvl="1"/>
            <a:r>
              <a:rPr lang="en-US" dirty="0"/>
              <a:t>Cloud Save Management (Online Mode Only)</a:t>
            </a:r>
            <a:endParaRPr lang="en-PH" dirty="0"/>
          </a:p>
          <a:p>
            <a:pPr lvl="2"/>
            <a:r>
              <a:rPr lang="en-US" dirty="0"/>
              <a:t>Allow the player to manage cloud saves.</a:t>
            </a:r>
            <a:endParaRPr lang="en-PH" dirty="0"/>
          </a:p>
        </p:txBody>
      </p:sp>
      <p:sp>
        <p:nvSpPr>
          <p:cNvPr id="26" name="Title 6">
            <a:extLst>
              <a:ext uri="{FF2B5EF4-FFF2-40B4-BE49-F238E27FC236}">
                <a16:creationId xmlns:a16="http://schemas.microsoft.com/office/drawing/2014/main" id="{FED94F2E-DA9F-C86A-D4B4-EEE846718BA5}"/>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1E31EC71-9E2D-359C-03EC-9BFD8A8B668A}"/>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2080987693"/>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94AEE-598D-7121-E8C1-E7F4D88B358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C17FC35-5510-42A8-C928-9D20844F8671}"/>
              </a:ext>
            </a:extLst>
          </p:cNvPr>
          <p:cNvSpPr>
            <a:spLocks noGrp="1"/>
          </p:cNvSpPr>
          <p:nvPr>
            <p:ph idx="1"/>
          </p:nvPr>
        </p:nvSpPr>
        <p:spPr/>
        <p:txBody>
          <a:bodyPr vert="horz" lIns="91440" tIns="45720" rIns="91440" bIns="45720" rtlCol="0" anchor="t">
            <a:normAutofit/>
          </a:bodyPr>
          <a:lstStyle/>
          <a:p>
            <a:pPr lvl="1"/>
            <a:r>
              <a:rPr lang="en-US" dirty="0"/>
              <a:t>Account (Online Mode Only)</a:t>
            </a:r>
            <a:endParaRPr lang="en-PH" dirty="0"/>
          </a:p>
          <a:p>
            <a:pPr lvl="2"/>
            <a:r>
              <a:rPr lang="en-US" dirty="0"/>
              <a:t>Allow overview of the account and allow logging out.</a:t>
            </a:r>
            <a:endParaRPr lang="en-PH" dirty="0"/>
          </a:p>
          <a:p>
            <a:pPr lvl="1"/>
            <a:r>
              <a:rPr lang="en-US" dirty="0"/>
              <a:t>Settings</a:t>
            </a:r>
            <a:endParaRPr lang="en-PH" dirty="0"/>
          </a:p>
          <a:p>
            <a:pPr lvl="2"/>
            <a:r>
              <a:rPr lang="en-US" dirty="0"/>
              <a:t>This will redirect the user to the settings panel to adjust the game’s sound volume.</a:t>
            </a:r>
            <a:endParaRPr lang="en-PH" dirty="0"/>
          </a:p>
        </p:txBody>
      </p:sp>
      <p:sp>
        <p:nvSpPr>
          <p:cNvPr id="26" name="Title 6">
            <a:extLst>
              <a:ext uri="{FF2B5EF4-FFF2-40B4-BE49-F238E27FC236}">
                <a16:creationId xmlns:a16="http://schemas.microsoft.com/office/drawing/2014/main" id="{34672741-2318-3C51-BDD1-C213E2A29354}"/>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05FA6E0F-0014-4FB9-B7B2-319546B2B82C}"/>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506381725"/>
      </p:ext>
    </p:extLst>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97774-3C37-ECE6-5C49-333EC021CF3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648EC92-63E6-6556-D209-4B6ECF46282A}"/>
              </a:ext>
            </a:extLst>
          </p:cNvPr>
          <p:cNvSpPr>
            <a:spLocks noGrp="1"/>
          </p:cNvSpPr>
          <p:nvPr>
            <p:ph idx="1"/>
          </p:nvPr>
        </p:nvSpPr>
        <p:spPr/>
        <p:txBody>
          <a:bodyPr vert="horz" lIns="91440" tIns="45720" rIns="91440" bIns="45720" rtlCol="0" anchor="t">
            <a:normAutofit/>
          </a:bodyPr>
          <a:lstStyle/>
          <a:p>
            <a:pPr lvl="1"/>
            <a:r>
              <a:rPr lang="en-US" dirty="0"/>
              <a:t>Quit</a:t>
            </a:r>
            <a:endParaRPr lang="en-PH" dirty="0"/>
          </a:p>
          <a:p>
            <a:pPr lvl="2"/>
            <a:r>
              <a:rPr lang="en-US" dirty="0"/>
              <a:t>This will close the game.</a:t>
            </a:r>
            <a:endParaRPr lang="en-PH" dirty="0"/>
          </a:p>
        </p:txBody>
      </p:sp>
      <p:sp>
        <p:nvSpPr>
          <p:cNvPr id="26" name="Title 6">
            <a:extLst>
              <a:ext uri="{FF2B5EF4-FFF2-40B4-BE49-F238E27FC236}">
                <a16:creationId xmlns:a16="http://schemas.microsoft.com/office/drawing/2014/main" id="{3BCE65A3-E017-54B9-3D46-92FFC168D0F8}"/>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7048F4BC-C99A-F9A0-29A3-FB1215F2CD08}"/>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3691151631"/>
      </p:ext>
    </p:extLst>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4FB7D-D15E-0DCB-E862-59F54E3CCF8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5D0155A-B377-4E2B-E02B-BD83CC863B32}"/>
              </a:ext>
            </a:extLst>
          </p:cNvPr>
          <p:cNvSpPr>
            <a:spLocks noGrp="1"/>
          </p:cNvSpPr>
          <p:nvPr>
            <p:ph idx="1"/>
          </p:nvPr>
        </p:nvSpPr>
        <p:spPr/>
        <p:txBody>
          <a:bodyPr vert="horz" lIns="91440" tIns="45720" rIns="91440" bIns="45720" rtlCol="0" anchor="t">
            <a:normAutofit/>
          </a:bodyPr>
          <a:lstStyle/>
          <a:p>
            <a:pPr lvl="0"/>
            <a:r>
              <a:rPr lang="en-US" b="1" dirty="0"/>
              <a:t>Settings Panel</a:t>
            </a:r>
            <a:endParaRPr lang="en-PH" b="1" dirty="0"/>
          </a:p>
          <a:p>
            <a:pPr lvl="1"/>
            <a:r>
              <a:rPr lang="en-US" dirty="0"/>
              <a:t>Volume Sliders</a:t>
            </a:r>
            <a:endParaRPr lang="en-PH" dirty="0"/>
          </a:p>
          <a:p>
            <a:pPr lvl="2"/>
            <a:r>
              <a:rPr lang="en-US" dirty="0"/>
              <a:t>BGM Volume</a:t>
            </a:r>
            <a:endParaRPr lang="en-PH" dirty="0"/>
          </a:p>
          <a:p>
            <a:pPr lvl="3"/>
            <a:r>
              <a:rPr lang="en-US" dirty="0"/>
              <a:t>Adjusts the volume for the background music of the game.</a:t>
            </a:r>
            <a:endParaRPr lang="en-PH" dirty="0"/>
          </a:p>
          <a:p>
            <a:pPr lvl="2"/>
            <a:r>
              <a:rPr lang="en-US" dirty="0"/>
              <a:t>Effects Volume</a:t>
            </a:r>
            <a:endParaRPr lang="en-PH" dirty="0"/>
          </a:p>
          <a:p>
            <a:pPr lvl="3"/>
            <a:r>
              <a:rPr lang="en-US" dirty="0"/>
              <a:t>Adjust the volume for the sound effects of the game.</a:t>
            </a:r>
            <a:endParaRPr lang="en-PH" dirty="0"/>
          </a:p>
        </p:txBody>
      </p:sp>
      <p:sp>
        <p:nvSpPr>
          <p:cNvPr id="26" name="Title 6">
            <a:extLst>
              <a:ext uri="{FF2B5EF4-FFF2-40B4-BE49-F238E27FC236}">
                <a16:creationId xmlns:a16="http://schemas.microsoft.com/office/drawing/2014/main" id="{35CF881C-A32A-154D-4D3C-73AA2A366600}"/>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5F98B1E1-F798-B5E0-A875-3B70D9D81425}"/>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3000099146"/>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5C55-BC82-387D-24C5-5866B583F3F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756EC47-64BC-A738-2F07-B2015313512E}"/>
              </a:ext>
            </a:extLst>
          </p:cNvPr>
          <p:cNvSpPr>
            <a:spLocks noGrp="1"/>
          </p:cNvSpPr>
          <p:nvPr>
            <p:ph idx="1"/>
          </p:nvPr>
        </p:nvSpPr>
        <p:spPr/>
        <p:txBody>
          <a:bodyPr vert="horz" lIns="91440" tIns="45720" rIns="91440" bIns="45720" rtlCol="0" anchor="t">
            <a:normAutofit/>
          </a:bodyPr>
          <a:lstStyle/>
          <a:p>
            <a:pPr lvl="1"/>
            <a:r>
              <a:rPr lang="en-US" dirty="0"/>
              <a:t>Fullscreen</a:t>
            </a:r>
            <a:endParaRPr lang="en-PH" dirty="0"/>
          </a:p>
          <a:p>
            <a:pPr lvl="2"/>
            <a:r>
              <a:rPr lang="en-US" dirty="0"/>
              <a:t>Sets the game to full screen window.</a:t>
            </a:r>
            <a:endParaRPr lang="en-PH" dirty="0"/>
          </a:p>
          <a:p>
            <a:pPr lvl="1"/>
            <a:r>
              <a:rPr lang="en-US" dirty="0"/>
              <a:t>Credits</a:t>
            </a:r>
            <a:endParaRPr lang="en-PH" dirty="0"/>
          </a:p>
          <a:p>
            <a:pPr lvl="2"/>
            <a:r>
              <a:rPr lang="en-US" dirty="0"/>
              <a:t>Lists the developers and individuals who are part of the game development along with references to the materials and software used.</a:t>
            </a:r>
            <a:endParaRPr lang="en-PH" dirty="0"/>
          </a:p>
        </p:txBody>
      </p:sp>
      <p:sp>
        <p:nvSpPr>
          <p:cNvPr id="26" name="Title 6">
            <a:extLst>
              <a:ext uri="{FF2B5EF4-FFF2-40B4-BE49-F238E27FC236}">
                <a16:creationId xmlns:a16="http://schemas.microsoft.com/office/drawing/2014/main" id="{E6F90A6D-F5C7-9893-30E6-C662679CBD59}"/>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63EE9A4A-2ADC-F096-20EC-15735D945157}"/>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1596395322"/>
      </p:ext>
    </p:extLst>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54B06-1F4F-4DDC-8B6F-C47F514C8D5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D0FCB29-72FB-69C6-7AED-A8B56B1AF715}"/>
              </a:ext>
            </a:extLst>
          </p:cNvPr>
          <p:cNvSpPr>
            <a:spLocks noGrp="1"/>
          </p:cNvSpPr>
          <p:nvPr>
            <p:ph idx="1"/>
          </p:nvPr>
        </p:nvSpPr>
        <p:spPr/>
        <p:txBody>
          <a:bodyPr vert="horz" lIns="91440" tIns="45720" rIns="91440" bIns="45720" rtlCol="0" anchor="t">
            <a:normAutofit/>
          </a:bodyPr>
          <a:lstStyle/>
          <a:p>
            <a:pPr lvl="0"/>
            <a:r>
              <a:rPr lang="en-US" b="1" dirty="0"/>
              <a:t>Worlds Menu</a:t>
            </a:r>
            <a:endParaRPr lang="en-PH" b="1" dirty="0"/>
          </a:p>
          <a:p>
            <a:pPr lvl="1"/>
            <a:r>
              <a:rPr lang="en-US" dirty="0"/>
              <a:t>World Creation</a:t>
            </a:r>
            <a:endParaRPr lang="en-PH" dirty="0"/>
          </a:p>
          <a:p>
            <a:pPr lvl="2"/>
            <a:r>
              <a:rPr lang="en-US" dirty="0"/>
              <a:t>Lets the player name the world before creation.</a:t>
            </a:r>
            <a:endParaRPr lang="en-PH" dirty="0"/>
          </a:p>
          <a:p>
            <a:pPr lvl="1"/>
            <a:r>
              <a:rPr lang="en-US" dirty="0"/>
              <a:t>Delete</a:t>
            </a:r>
            <a:endParaRPr lang="en-PH" dirty="0"/>
          </a:p>
          <a:p>
            <a:pPr lvl="2"/>
            <a:r>
              <a:rPr lang="en-US" dirty="0"/>
              <a:t>Deletes the chosen save file upon confirmation.</a:t>
            </a:r>
            <a:endParaRPr lang="en-PH" dirty="0"/>
          </a:p>
          <a:p>
            <a:pPr lvl="1"/>
            <a:r>
              <a:rPr lang="en-US" dirty="0"/>
              <a:t>Rename</a:t>
            </a:r>
            <a:endParaRPr lang="en-PH" dirty="0"/>
          </a:p>
          <a:p>
            <a:pPr lvl="2"/>
            <a:r>
              <a:rPr lang="en-US" dirty="0"/>
              <a:t>Allows the player to rename their worlds.</a:t>
            </a:r>
            <a:endParaRPr lang="en-PH" dirty="0"/>
          </a:p>
          <a:p>
            <a:pPr lvl="1"/>
            <a:r>
              <a:rPr lang="en-US" dirty="0"/>
              <a:t>Save Slot</a:t>
            </a:r>
            <a:endParaRPr lang="en-PH" dirty="0"/>
          </a:p>
          <a:p>
            <a:pPr lvl="2"/>
            <a:r>
              <a:rPr lang="en-US" dirty="0"/>
              <a:t>Loads the chosen save file to continue its progress.</a:t>
            </a:r>
            <a:endParaRPr lang="en-PH" dirty="0"/>
          </a:p>
        </p:txBody>
      </p:sp>
      <p:sp>
        <p:nvSpPr>
          <p:cNvPr id="26" name="Title 6">
            <a:extLst>
              <a:ext uri="{FF2B5EF4-FFF2-40B4-BE49-F238E27FC236}">
                <a16:creationId xmlns:a16="http://schemas.microsoft.com/office/drawing/2014/main" id="{688F9105-5E0D-D266-E0D3-412983DCD081}"/>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12332273-E1F9-B866-96FC-A571AD51D76E}"/>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4182916650"/>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EB716-690A-22C9-5AEA-A5472A00ABD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D3BDAE8-7C4B-4F94-EC7D-C1FC96AC3338}"/>
              </a:ext>
            </a:extLst>
          </p:cNvPr>
          <p:cNvSpPr>
            <a:spLocks noGrp="1"/>
          </p:cNvSpPr>
          <p:nvPr>
            <p:ph idx="1"/>
          </p:nvPr>
        </p:nvSpPr>
        <p:spPr/>
        <p:txBody>
          <a:bodyPr vert="horz" lIns="91440" tIns="45720" rIns="91440" bIns="45720" rtlCol="0" anchor="t">
            <a:normAutofit/>
          </a:bodyPr>
          <a:lstStyle/>
          <a:p>
            <a:pPr lvl="0"/>
            <a:r>
              <a:rPr lang="en-US" b="1" dirty="0"/>
              <a:t>Game Mechanics</a:t>
            </a:r>
            <a:endParaRPr lang="en-PH" b="1" dirty="0"/>
          </a:p>
          <a:p>
            <a:pPr lvl="1"/>
            <a:r>
              <a:rPr lang="en-US" dirty="0"/>
              <a:t>Procedural Map Generation</a:t>
            </a:r>
            <a:endParaRPr lang="en-PH" dirty="0"/>
          </a:p>
          <a:p>
            <a:pPr lvl="2"/>
            <a:r>
              <a:rPr lang="en-US" dirty="0"/>
              <a:t>Single player maps are automatically created using algorithms instead of being manually designed which allows each environment to be unique.</a:t>
            </a:r>
            <a:endParaRPr lang="en-PH" b="1" dirty="0"/>
          </a:p>
        </p:txBody>
      </p:sp>
      <p:sp>
        <p:nvSpPr>
          <p:cNvPr id="26" name="Title 6">
            <a:extLst>
              <a:ext uri="{FF2B5EF4-FFF2-40B4-BE49-F238E27FC236}">
                <a16:creationId xmlns:a16="http://schemas.microsoft.com/office/drawing/2014/main" id="{4A0538A4-308E-5DD6-37CD-E36BCAAED99E}"/>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89195212-1937-4A39-2DD8-7C191E75E65F}"/>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2590983169"/>
      </p:ext>
    </p:extLst>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285B7-0DF1-73E0-7BE9-DF263F17092D}"/>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DB05658-C50F-49CF-B18A-34318D756466}"/>
              </a:ext>
            </a:extLst>
          </p:cNvPr>
          <p:cNvSpPr>
            <a:spLocks noGrp="1"/>
          </p:cNvSpPr>
          <p:nvPr>
            <p:ph idx="1"/>
          </p:nvPr>
        </p:nvSpPr>
        <p:spPr/>
        <p:txBody>
          <a:bodyPr vert="horz" lIns="91440" tIns="45720" rIns="91440" bIns="45720" rtlCol="0" anchor="t">
            <a:normAutofit/>
          </a:bodyPr>
          <a:lstStyle/>
          <a:p>
            <a:pPr lvl="1"/>
            <a:r>
              <a:rPr lang="en-US" dirty="0"/>
              <a:t>Missions</a:t>
            </a:r>
            <a:endParaRPr lang="en-PH" dirty="0"/>
          </a:p>
          <a:p>
            <a:pPr lvl="2"/>
            <a:r>
              <a:rPr lang="en-US" dirty="0"/>
              <a:t>A list of gameplay objectives that gradually guides the player throughout the entire game.</a:t>
            </a:r>
            <a:endParaRPr lang="en-PH" dirty="0"/>
          </a:p>
          <a:p>
            <a:pPr lvl="2"/>
            <a:r>
              <a:rPr lang="en-US" dirty="0"/>
              <a:t>Dungeon missions are separated into distinct levels of difficulties which encompasses a gradual flow of progression into learning programming.</a:t>
            </a:r>
            <a:endParaRPr lang="en-PH" dirty="0"/>
          </a:p>
          <a:p>
            <a:pPr lvl="2"/>
            <a:r>
              <a:rPr lang="en-US"/>
              <a:t>Completing </a:t>
            </a:r>
            <a:r>
              <a:rPr lang="en-US" dirty="0"/>
              <a:t>missions will give the player stars and the stars they have will determine their rank.</a:t>
            </a:r>
            <a:endParaRPr lang="en-PH" dirty="0"/>
          </a:p>
        </p:txBody>
      </p:sp>
      <p:sp>
        <p:nvSpPr>
          <p:cNvPr id="26" name="Title 6">
            <a:extLst>
              <a:ext uri="{FF2B5EF4-FFF2-40B4-BE49-F238E27FC236}">
                <a16:creationId xmlns:a16="http://schemas.microsoft.com/office/drawing/2014/main" id="{8EA6DF00-8D4F-1FBB-ABDD-D26CEB66E464}"/>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8FB7ED62-678F-C254-C899-D3E2096433FD}"/>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4103153135"/>
      </p:ext>
    </p:extLst>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F468-F7E1-AD3C-A358-6EDC8912DEB0}"/>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2F8CCAE-B1B7-3CC0-B60F-7492355F9F4F}"/>
              </a:ext>
            </a:extLst>
          </p:cNvPr>
          <p:cNvSpPr>
            <a:spLocks noGrp="1"/>
          </p:cNvSpPr>
          <p:nvPr>
            <p:ph idx="1"/>
          </p:nvPr>
        </p:nvSpPr>
        <p:spPr/>
        <p:txBody>
          <a:bodyPr vert="horz" lIns="91440" tIns="45720" rIns="91440" bIns="45720" rtlCol="0" anchor="t">
            <a:normAutofit/>
          </a:bodyPr>
          <a:lstStyle/>
          <a:p>
            <a:pPr lvl="1"/>
            <a:r>
              <a:rPr lang="en-US" dirty="0"/>
              <a:t>Ranks</a:t>
            </a:r>
            <a:endParaRPr lang="en-PH" dirty="0"/>
          </a:p>
          <a:p>
            <a:pPr lvl="2"/>
            <a:r>
              <a:rPr lang="en-US" dirty="0"/>
              <a:t>Ranking system will allow players to display their programming capabilities in the game.</a:t>
            </a:r>
            <a:endParaRPr lang="en-PH" dirty="0"/>
          </a:p>
          <a:p>
            <a:pPr lvl="2"/>
            <a:r>
              <a:rPr lang="en-US" dirty="0"/>
              <a:t>Ranks can be increased by completing dungeons and earning blue stars.</a:t>
            </a:r>
            <a:endParaRPr lang="en-PH" dirty="0"/>
          </a:p>
          <a:p>
            <a:pPr lvl="1"/>
            <a:r>
              <a:rPr lang="en-US" dirty="0"/>
              <a:t>Completion Badge</a:t>
            </a:r>
            <a:endParaRPr lang="en-PH" dirty="0"/>
          </a:p>
          <a:p>
            <a:pPr lvl="2"/>
            <a:r>
              <a:rPr lang="en-US" dirty="0"/>
              <a:t>Granted to the player upon completing extra dungeon missions. Only given once.</a:t>
            </a:r>
            <a:endParaRPr lang="en-PH" dirty="0"/>
          </a:p>
        </p:txBody>
      </p:sp>
      <p:sp>
        <p:nvSpPr>
          <p:cNvPr id="26" name="Title 6">
            <a:extLst>
              <a:ext uri="{FF2B5EF4-FFF2-40B4-BE49-F238E27FC236}">
                <a16:creationId xmlns:a16="http://schemas.microsoft.com/office/drawing/2014/main" id="{E0BFC2B0-24D8-E8D4-9C67-BBD522E747DC}"/>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CF72E965-7094-4903-245B-E5F5760469AE}"/>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1614308757"/>
      </p:ext>
    </p:extLst>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CEE11-7902-94E5-D35B-1484D1BE37F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15B9C65-EEB5-8EAC-1D5E-146BD92C7BC4}"/>
              </a:ext>
            </a:extLst>
          </p:cNvPr>
          <p:cNvSpPr>
            <a:spLocks noGrp="1"/>
          </p:cNvSpPr>
          <p:nvPr>
            <p:ph idx="1"/>
          </p:nvPr>
        </p:nvSpPr>
        <p:spPr/>
        <p:txBody>
          <a:bodyPr vert="horz" lIns="91440" tIns="45720" rIns="91440" bIns="45720" rtlCol="0" anchor="t">
            <a:normAutofit/>
          </a:bodyPr>
          <a:lstStyle/>
          <a:p>
            <a:pPr lvl="1"/>
            <a:r>
              <a:rPr lang="en-US" dirty="0"/>
              <a:t>Leaderboards</a:t>
            </a:r>
            <a:endParaRPr lang="en-PH" dirty="0"/>
          </a:p>
          <a:p>
            <a:pPr lvl="2"/>
            <a:r>
              <a:rPr lang="en-US" dirty="0"/>
              <a:t>Sort available players by their rank.</a:t>
            </a:r>
            <a:endParaRPr lang="en-PH" dirty="0"/>
          </a:p>
          <a:p>
            <a:pPr lvl="2"/>
            <a:r>
              <a:rPr lang="en-US" dirty="0"/>
              <a:t>Rankings are based on the blue stars the player has.</a:t>
            </a:r>
            <a:endParaRPr lang="en-PH" dirty="0"/>
          </a:p>
        </p:txBody>
      </p:sp>
      <p:sp>
        <p:nvSpPr>
          <p:cNvPr id="26" name="Title 6">
            <a:extLst>
              <a:ext uri="{FF2B5EF4-FFF2-40B4-BE49-F238E27FC236}">
                <a16:creationId xmlns:a16="http://schemas.microsoft.com/office/drawing/2014/main" id="{661CBD31-2295-4232-DE2E-574CD9D2FD1F}"/>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BFE77F87-1887-133A-0E46-C932B6C1ED93}"/>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2323541105"/>
      </p:ext>
    </p:extLst>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BCE66-7F82-726E-226F-F89E0324134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1DD6F37-6054-6F1E-4F3E-011DD11C08D0}"/>
              </a:ext>
            </a:extLst>
          </p:cNvPr>
          <p:cNvSpPr>
            <a:spLocks noGrp="1"/>
          </p:cNvSpPr>
          <p:nvPr>
            <p:ph idx="1"/>
          </p:nvPr>
        </p:nvSpPr>
        <p:spPr/>
        <p:txBody>
          <a:bodyPr vert="horz" lIns="91440" tIns="45720" rIns="91440" bIns="45720" rtlCol="0" anchor="t">
            <a:normAutofit/>
          </a:bodyPr>
          <a:lstStyle/>
          <a:p>
            <a:pPr lvl="1"/>
            <a:r>
              <a:rPr lang="en-US" dirty="0"/>
              <a:t>Fishing</a:t>
            </a:r>
            <a:endParaRPr lang="en-PH" dirty="0"/>
          </a:p>
          <a:p>
            <a:pPr lvl="2"/>
            <a:r>
              <a:rPr lang="en-US" dirty="0"/>
              <a:t>Players can use fishing rods to catch fishes in bodies of water.</a:t>
            </a:r>
            <a:endParaRPr lang="en-PH" dirty="0"/>
          </a:p>
          <a:p>
            <a:pPr lvl="1"/>
            <a:r>
              <a:rPr lang="en-US" dirty="0"/>
              <a:t>Farming</a:t>
            </a:r>
            <a:endParaRPr lang="en-PH" dirty="0"/>
          </a:p>
          <a:p>
            <a:pPr lvl="2"/>
            <a:r>
              <a:rPr lang="en-US" dirty="0"/>
              <a:t>Players can use tools to collect seeds and build farmland near water.</a:t>
            </a:r>
            <a:endParaRPr lang="en-PH" dirty="0"/>
          </a:p>
        </p:txBody>
      </p:sp>
      <p:sp>
        <p:nvSpPr>
          <p:cNvPr id="26" name="Title 6">
            <a:extLst>
              <a:ext uri="{FF2B5EF4-FFF2-40B4-BE49-F238E27FC236}">
                <a16:creationId xmlns:a16="http://schemas.microsoft.com/office/drawing/2014/main" id="{64AD43AF-63A7-96B1-5DF5-836B74CCB3B2}"/>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75AA123F-AD7E-C4EA-1FE2-95A9ECF5EA8C}"/>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3038565143"/>
      </p:ext>
    </p:extLst>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5B951-D14A-2933-0A02-2694F374906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5C4A51B-1EFE-C394-1A74-743840A35002}"/>
              </a:ext>
            </a:extLst>
          </p:cNvPr>
          <p:cNvSpPr>
            <a:spLocks noGrp="1"/>
          </p:cNvSpPr>
          <p:nvPr>
            <p:ph idx="1"/>
          </p:nvPr>
        </p:nvSpPr>
        <p:spPr/>
        <p:txBody>
          <a:bodyPr vert="horz" lIns="91440" tIns="45720" rIns="91440" bIns="45720" rtlCol="0" anchor="t">
            <a:normAutofit fontScale="70000" lnSpcReduction="20000"/>
          </a:bodyPr>
          <a:lstStyle/>
          <a:p>
            <a:pPr lvl="1"/>
            <a:r>
              <a:rPr lang="en-US" dirty="0"/>
              <a:t>Items</a:t>
            </a:r>
            <a:endParaRPr lang="en-PH" dirty="0"/>
          </a:p>
          <a:p>
            <a:pPr lvl="2"/>
            <a:r>
              <a:rPr lang="en-US" dirty="0"/>
              <a:t>Materials</a:t>
            </a:r>
            <a:endParaRPr lang="en-PH" dirty="0"/>
          </a:p>
          <a:p>
            <a:pPr lvl="3"/>
            <a:r>
              <a:rPr lang="en-US" dirty="0"/>
              <a:t>It can be used to craft materials and other </a:t>
            </a:r>
            <a:r>
              <a:rPr lang="en-US" dirty="0" err="1"/>
              <a:t>craftable</a:t>
            </a:r>
            <a:r>
              <a:rPr lang="en-US" dirty="0"/>
              <a:t> items.</a:t>
            </a:r>
            <a:endParaRPr lang="en-PH" dirty="0"/>
          </a:p>
          <a:p>
            <a:pPr lvl="2"/>
            <a:r>
              <a:rPr lang="en-US" dirty="0"/>
              <a:t>Interactive Objects</a:t>
            </a:r>
            <a:endParaRPr lang="en-PH" dirty="0"/>
          </a:p>
          <a:p>
            <a:pPr lvl="3"/>
            <a:r>
              <a:rPr lang="en-US" dirty="0"/>
              <a:t>Crafting Stations</a:t>
            </a:r>
            <a:endParaRPr lang="en-PH" dirty="0"/>
          </a:p>
          <a:p>
            <a:pPr lvl="4"/>
            <a:r>
              <a:rPr lang="en-US" dirty="0"/>
              <a:t>Where the user can craft items.</a:t>
            </a:r>
            <a:endParaRPr lang="en-PH" dirty="0"/>
          </a:p>
          <a:p>
            <a:pPr lvl="3"/>
            <a:r>
              <a:rPr lang="en-US" dirty="0"/>
              <a:t>Furnace</a:t>
            </a:r>
            <a:endParaRPr lang="en-PH" dirty="0"/>
          </a:p>
          <a:p>
            <a:pPr lvl="4"/>
            <a:r>
              <a:rPr lang="en-US" dirty="0"/>
              <a:t>Allows the player to smelt ores and cook food using either wood or charcoal as fuel.</a:t>
            </a:r>
            <a:endParaRPr lang="en-PH" b="1" dirty="0"/>
          </a:p>
          <a:p>
            <a:pPr lvl="3"/>
            <a:r>
              <a:rPr lang="en-US" dirty="0"/>
              <a:t>Chest</a:t>
            </a:r>
            <a:endParaRPr lang="en-PH" dirty="0"/>
          </a:p>
          <a:p>
            <a:pPr lvl="4"/>
            <a:r>
              <a:rPr lang="en-US" dirty="0"/>
              <a:t>Allows the player to store items in a limited capacity.</a:t>
            </a:r>
            <a:endParaRPr lang="en-PH" dirty="0"/>
          </a:p>
          <a:p>
            <a:pPr lvl="3"/>
            <a:r>
              <a:rPr lang="en-US" dirty="0"/>
              <a:t>Color Crafter</a:t>
            </a:r>
            <a:endParaRPr lang="en-PH" dirty="0"/>
          </a:p>
          <a:p>
            <a:pPr lvl="4"/>
            <a:r>
              <a:rPr lang="en-US" dirty="0"/>
              <a:t>Allows the player to craft items with custom RGB colors.</a:t>
            </a:r>
            <a:endParaRPr lang="en-PH" dirty="0"/>
          </a:p>
          <a:p>
            <a:pPr lvl="4"/>
            <a:r>
              <a:rPr lang="en-US" dirty="0"/>
              <a:t>Displays the hex number for the selected block.</a:t>
            </a:r>
            <a:endParaRPr lang="en-PH" dirty="0"/>
          </a:p>
          <a:p>
            <a:pPr lvl="4"/>
            <a:r>
              <a:rPr lang="en-US" dirty="0"/>
              <a:t>Player can select between hex or RGB.</a:t>
            </a:r>
            <a:endParaRPr lang="en-PH" dirty="0"/>
          </a:p>
        </p:txBody>
      </p:sp>
      <p:sp>
        <p:nvSpPr>
          <p:cNvPr id="26" name="Title 6">
            <a:extLst>
              <a:ext uri="{FF2B5EF4-FFF2-40B4-BE49-F238E27FC236}">
                <a16:creationId xmlns:a16="http://schemas.microsoft.com/office/drawing/2014/main" id="{2D375F42-CA4C-0537-8B97-881857B533FB}"/>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A7A06035-F452-F152-194E-7BFB8D7D301E}"/>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2305182736"/>
      </p:ext>
    </p:extLst>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5B55F-2293-72DD-BD3E-B83530031B0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5BA139F-1CFC-AE38-281E-A7236322A425}"/>
              </a:ext>
            </a:extLst>
          </p:cNvPr>
          <p:cNvSpPr>
            <a:spLocks noGrp="1"/>
          </p:cNvSpPr>
          <p:nvPr>
            <p:ph idx="1"/>
          </p:nvPr>
        </p:nvSpPr>
        <p:spPr/>
        <p:txBody>
          <a:bodyPr vert="horz" lIns="91440" tIns="45720" rIns="91440" bIns="45720" rtlCol="0" anchor="t">
            <a:normAutofit/>
          </a:bodyPr>
          <a:lstStyle/>
          <a:p>
            <a:pPr lvl="2"/>
            <a:r>
              <a:rPr lang="en-US" dirty="0"/>
              <a:t>Weapons</a:t>
            </a:r>
            <a:endParaRPr lang="en-PH" dirty="0"/>
          </a:p>
          <a:p>
            <a:pPr lvl="3"/>
            <a:r>
              <a:rPr lang="en-US" dirty="0"/>
              <a:t>Swords can be used to deal damage to enemies.</a:t>
            </a:r>
            <a:endParaRPr lang="en-PH" dirty="0"/>
          </a:p>
          <a:p>
            <a:pPr lvl="2"/>
            <a:r>
              <a:rPr lang="en-US" dirty="0"/>
              <a:t>Tools</a:t>
            </a:r>
            <a:endParaRPr lang="en-PH" dirty="0"/>
          </a:p>
          <a:p>
            <a:pPr lvl="3"/>
            <a:r>
              <a:rPr lang="en-US" dirty="0"/>
              <a:t>Tools such as the pickaxe, axe, and fishing rod can be used for specific purposes.</a:t>
            </a:r>
            <a:endParaRPr lang="en-PH" dirty="0"/>
          </a:p>
          <a:p>
            <a:pPr lvl="2"/>
            <a:r>
              <a:rPr lang="en-US" dirty="0"/>
              <a:t>Food</a:t>
            </a:r>
            <a:endParaRPr lang="en-PH" dirty="0"/>
          </a:p>
          <a:p>
            <a:pPr lvl="3"/>
            <a:r>
              <a:rPr lang="en-US" dirty="0"/>
              <a:t>Can be used to heal health.</a:t>
            </a:r>
            <a:endParaRPr lang="en-PH" dirty="0"/>
          </a:p>
        </p:txBody>
      </p:sp>
      <p:sp>
        <p:nvSpPr>
          <p:cNvPr id="26" name="Title 6">
            <a:extLst>
              <a:ext uri="{FF2B5EF4-FFF2-40B4-BE49-F238E27FC236}">
                <a16:creationId xmlns:a16="http://schemas.microsoft.com/office/drawing/2014/main" id="{B9EA64A6-6225-832E-31A8-4551487DEB29}"/>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C1159E68-E1DC-EA91-1AFF-7B86E3A062D4}"/>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3937856048"/>
      </p:ext>
    </p:extLst>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BBB89-29FA-4956-6250-3BCCC3752FC0}"/>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8ECB0F2-A0C6-CD7E-AB59-CA6CA2E9C3E2}"/>
              </a:ext>
            </a:extLst>
          </p:cNvPr>
          <p:cNvSpPr>
            <a:spLocks noGrp="1"/>
          </p:cNvSpPr>
          <p:nvPr>
            <p:ph idx="1"/>
          </p:nvPr>
        </p:nvSpPr>
        <p:spPr/>
        <p:txBody>
          <a:bodyPr vert="horz" lIns="91440" tIns="45720" rIns="91440" bIns="45720" rtlCol="0" anchor="t">
            <a:normAutofit fontScale="92500" lnSpcReduction="10000"/>
          </a:bodyPr>
          <a:lstStyle/>
          <a:p>
            <a:pPr lvl="1"/>
            <a:r>
              <a:rPr lang="en-US" dirty="0"/>
              <a:t>Dungeons</a:t>
            </a:r>
            <a:endParaRPr lang="en-PH" dirty="0"/>
          </a:p>
          <a:p>
            <a:pPr lvl="2"/>
            <a:r>
              <a:rPr lang="en-US" dirty="0"/>
              <a:t>Randomly generated areas that serve to give major progress for the user, challenging their skills in Lua or Python programming to unlock more mechanics.</a:t>
            </a:r>
            <a:endParaRPr lang="en-PH" dirty="0"/>
          </a:p>
          <a:p>
            <a:pPr lvl="2"/>
            <a:r>
              <a:rPr lang="en-US" dirty="0"/>
              <a:t>Rewards the player with blue stars upon completion.</a:t>
            </a:r>
            <a:endParaRPr lang="en-PH" dirty="0"/>
          </a:p>
          <a:p>
            <a:pPr lvl="2"/>
            <a:r>
              <a:rPr lang="en-US" dirty="0"/>
              <a:t>Serves as a guide to player’s progress.</a:t>
            </a:r>
            <a:endParaRPr lang="en-PH" b="1" dirty="0"/>
          </a:p>
          <a:p>
            <a:pPr lvl="2"/>
            <a:r>
              <a:rPr lang="en-US" dirty="0"/>
              <a:t>Randomly spawns successively throughout the world and serve as the dungeon mechanic of the game. The next dungeon spawns after the last one are completed.</a:t>
            </a:r>
            <a:endParaRPr lang="en-PH" dirty="0"/>
          </a:p>
          <a:p>
            <a:pPr lvl="2"/>
            <a:r>
              <a:rPr lang="en-US" dirty="0"/>
              <a:t>Includes quizzes that can be solved openly depending on the user.</a:t>
            </a:r>
            <a:endParaRPr lang="en-PH" dirty="0"/>
          </a:p>
          <a:p>
            <a:pPr lvl="2"/>
            <a:r>
              <a:rPr lang="en-US" dirty="0"/>
              <a:t>Features Mini-Boss Battle in the last stage.</a:t>
            </a:r>
            <a:endParaRPr lang="en-PH" dirty="0"/>
          </a:p>
        </p:txBody>
      </p:sp>
      <p:sp>
        <p:nvSpPr>
          <p:cNvPr id="26" name="Title 6">
            <a:extLst>
              <a:ext uri="{FF2B5EF4-FFF2-40B4-BE49-F238E27FC236}">
                <a16:creationId xmlns:a16="http://schemas.microsoft.com/office/drawing/2014/main" id="{9250E634-7412-D90F-CB79-985A392A1773}"/>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F5AF1487-5683-03C2-662E-818EA4B660AC}"/>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1168790507"/>
      </p:ext>
    </p:extLst>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EE9F6-00C0-9E5A-5798-A0471380AEAE}"/>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B12861-BFED-F7D6-5B8E-3EC48518C31D}"/>
              </a:ext>
            </a:extLst>
          </p:cNvPr>
          <p:cNvSpPr>
            <a:spLocks noGrp="1"/>
          </p:cNvSpPr>
          <p:nvPr>
            <p:ph idx="1"/>
          </p:nvPr>
        </p:nvSpPr>
        <p:spPr/>
        <p:txBody>
          <a:bodyPr vert="horz" lIns="91440" tIns="45720" rIns="91440" bIns="45720" rtlCol="0" anchor="t">
            <a:normAutofit fontScale="77500" lnSpcReduction="20000"/>
          </a:bodyPr>
          <a:lstStyle/>
          <a:p>
            <a:pPr lvl="1"/>
            <a:r>
              <a:rPr lang="en-US" dirty="0"/>
              <a:t>Enemies</a:t>
            </a:r>
            <a:endParaRPr lang="en-PH" dirty="0"/>
          </a:p>
          <a:p>
            <a:pPr lvl="2"/>
            <a:r>
              <a:rPr lang="en-US" dirty="0"/>
              <a:t>Spawns randomly on the overworld and in dungeons.</a:t>
            </a:r>
            <a:endParaRPr lang="en-PH" dirty="0"/>
          </a:p>
          <a:p>
            <a:pPr lvl="2"/>
            <a:r>
              <a:rPr lang="en-US" dirty="0"/>
              <a:t>Enemies that spawn on dungeons do not adhere to the day and night cycle.</a:t>
            </a:r>
            <a:endParaRPr lang="en-PH" dirty="0"/>
          </a:p>
          <a:p>
            <a:pPr lvl="2"/>
            <a:r>
              <a:rPr lang="en-US" dirty="0"/>
              <a:t>Headless Fish</a:t>
            </a:r>
            <a:endParaRPr lang="en-PH" dirty="0"/>
          </a:p>
          <a:p>
            <a:pPr lvl="3"/>
            <a:r>
              <a:rPr lang="en-US" dirty="0"/>
              <a:t>Spawns in the overworld during the night and attacks by homing and dashing into the player.</a:t>
            </a:r>
            <a:endParaRPr lang="en-PH" b="1" dirty="0"/>
          </a:p>
          <a:p>
            <a:pPr lvl="2"/>
            <a:r>
              <a:rPr lang="en-US" dirty="0"/>
              <a:t>Desert Worm</a:t>
            </a:r>
            <a:endParaRPr lang="en-PH" dirty="0"/>
          </a:p>
          <a:p>
            <a:pPr lvl="3"/>
            <a:r>
              <a:rPr lang="en-US" dirty="0"/>
              <a:t>Spawns in the overworld regardless of daylight. Spawns and hides in the desert and attack the player when approached.</a:t>
            </a:r>
            <a:endParaRPr lang="en-PH" dirty="0"/>
          </a:p>
          <a:p>
            <a:pPr lvl="2"/>
            <a:r>
              <a:rPr lang="en-US" dirty="0"/>
              <a:t>Hitman</a:t>
            </a:r>
            <a:endParaRPr lang="en-PH" dirty="0"/>
          </a:p>
          <a:p>
            <a:pPr lvl="3"/>
            <a:r>
              <a:rPr lang="en-US" dirty="0"/>
              <a:t>Spawns in the dungeon. Fires projectiles and can charge straight into the player to deal damage.</a:t>
            </a:r>
            <a:endParaRPr lang="en-PH" dirty="0"/>
          </a:p>
          <a:p>
            <a:pPr lvl="2"/>
            <a:r>
              <a:rPr lang="en-US" dirty="0"/>
              <a:t>Pixie</a:t>
            </a:r>
            <a:endParaRPr lang="en-PH" dirty="0"/>
          </a:p>
          <a:p>
            <a:pPr lvl="3"/>
            <a:r>
              <a:rPr lang="en-US" dirty="0"/>
              <a:t>Spawns in the Pixie Caves and attacks the player on sight.</a:t>
            </a:r>
            <a:endParaRPr lang="en-PH" dirty="0"/>
          </a:p>
        </p:txBody>
      </p:sp>
      <p:sp>
        <p:nvSpPr>
          <p:cNvPr id="26" name="Title 6">
            <a:extLst>
              <a:ext uri="{FF2B5EF4-FFF2-40B4-BE49-F238E27FC236}">
                <a16:creationId xmlns:a16="http://schemas.microsoft.com/office/drawing/2014/main" id="{C59ED28F-E99B-868D-BAF1-E0922A18CF72}"/>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7654115A-3E8A-DC7E-8918-AD3C8B2A8F0E}"/>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736490249"/>
      </p:ext>
    </p:extLst>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16196-3128-2579-D18F-3797EFDA02D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E150491-711B-3018-308F-65A9861C3711}"/>
              </a:ext>
            </a:extLst>
          </p:cNvPr>
          <p:cNvSpPr>
            <a:spLocks noGrp="1"/>
          </p:cNvSpPr>
          <p:nvPr>
            <p:ph idx="1"/>
          </p:nvPr>
        </p:nvSpPr>
        <p:spPr/>
        <p:txBody>
          <a:bodyPr vert="horz" lIns="91440" tIns="45720" rIns="91440" bIns="45720" rtlCol="0" anchor="t">
            <a:normAutofit fontScale="77500" lnSpcReduction="20000"/>
          </a:bodyPr>
          <a:lstStyle/>
          <a:p>
            <a:pPr lvl="1"/>
            <a:r>
              <a:rPr lang="en-US" dirty="0"/>
              <a:t>Day and Night Cycle</a:t>
            </a:r>
            <a:endParaRPr lang="en-PH" dirty="0"/>
          </a:p>
          <a:p>
            <a:pPr lvl="2"/>
            <a:r>
              <a:rPr lang="en-US" dirty="0"/>
              <a:t>Determines enemy spawning rate and difficulty.</a:t>
            </a:r>
            <a:endParaRPr lang="en-PH" dirty="0"/>
          </a:p>
          <a:p>
            <a:pPr lvl="2"/>
            <a:r>
              <a:rPr lang="en-US" dirty="0"/>
              <a:t>Enemies deal less damage during daytime and do normal damage at night.</a:t>
            </a:r>
            <a:endParaRPr lang="en-PH" dirty="0"/>
          </a:p>
          <a:p>
            <a:pPr lvl="1"/>
            <a:r>
              <a:rPr lang="en-US" dirty="0"/>
              <a:t>Live Interpreter</a:t>
            </a:r>
            <a:endParaRPr lang="en-PH" dirty="0"/>
          </a:p>
          <a:p>
            <a:pPr lvl="2"/>
            <a:r>
              <a:rPr lang="en-US" dirty="0"/>
              <a:t>Serves as a built in IDE for the coding function in the game for both </a:t>
            </a:r>
            <a:r>
              <a:rPr lang="en-US" dirty="0" err="1"/>
              <a:t>Algorithmica</a:t>
            </a:r>
            <a:r>
              <a:rPr lang="en-US" dirty="0"/>
              <a:t> and </a:t>
            </a:r>
            <a:r>
              <a:rPr lang="en-US" dirty="0" err="1"/>
              <a:t>Automatica</a:t>
            </a:r>
            <a:r>
              <a:rPr lang="en-US" dirty="0"/>
              <a:t>.</a:t>
            </a:r>
            <a:endParaRPr lang="en-PH" dirty="0"/>
          </a:p>
          <a:p>
            <a:pPr lvl="2"/>
            <a:r>
              <a:rPr lang="en-US" dirty="0"/>
              <a:t>Syntax Highlighting which will highlight the errors in programming syntax.</a:t>
            </a:r>
            <a:endParaRPr lang="en-PH" dirty="0"/>
          </a:p>
          <a:p>
            <a:pPr lvl="2"/>
            <a:r>
              <a:rPr lang="en-US" dirty="0"/>
              <a:t>Interprets the code that is written by the player.</a:t>
            </a:r>
            <a:endParaRPr lang="en-PH" dirty="0"/>
          </a:p>
          <a:p>
            <a:pPr lvl="1"/>
            <a:r>
              <a:rPr lang="en-US" dirty="0" err="1"/>
              <a:t>Automatica</a:t>
            </a:r>
            <a:endParaRPr lang="en-PH" dirty="0"/>
          </a:p>
          <a:p>
            <a:pPr lvl="2"/>
            <a:r>
              <a:rPr lang="en-US" dirty="0"/>
              <a:t>Robot-like </a:t>
            </a:r>
            <a:r>
              <a:rPr lang="en-US" dirty="0" err="1"/>
              <a:t>craftables</a:t>
            </a:r>
            <a:r>
              <a:rPr lang="en-US" dirty="0"/>
              <a:t> that allow the user to automate certain processes by programming it through Lua, through the Lua-focused dungeons.</a:t>
            </a:r>
            <a:endParaRPr lang="en-PH" dirty="0"/>
          </a:p>
          <a:p>
            <a:pPr lvl="2"/>
            <a:r>
              <a:rPr lang="en-US" dirty="0" err="1"/>
              <a:t>Automaticas</a:t>
            </a:r>
            <a:r>
              <a:rPr lang="en-US" dirty="0"/>
              <a:t> can be used to automate interaction with objects and aid the player in combat.</a:t>
            </a:r>
            <a:endParaRPr lang="en-PH" dirty="0"/>
          </a:p>
          <a:p>
            <a:pPr lvl="2"/>
            <a:r>
              <a:rPr lang="en-US" dirty="0" err="1"/>
              <a:t>Automaticas</a:t>
            </a:r>
            <a:r>
              <a:rPr lang="en-US" dirty="0"/>
              <a:t> required placed wires to interact with stations.</a:t>
            </a:r>
            <a:endParaRPr lang="en-PH" dirty="0"/>
          </a:p>
          <a:p>
            <a:pPr lvl="2"/>
            <a:r>
              <a:rPr lang="en-US" dirty="0" err="1"/>
              <a:t>Automaticas</a:t>
            </a:r>
            <a:r>
              <a:rPr lang="en-US" dirty="0"/>
              <a:t> have the option to be renamed.</a:t>
            </a:r>
            <a:endParaRPr lang="en-PH" dirty="0"/>
          </a:p>
        </p:txBody>
      </p:sp>
      <p:sp>
        <p:nvSpPr>
          <p:cNvPr id="26" name="Title 6">
            <a:extLst>
              <a:ext uri="{FF2B5EF4-FFF2-40B4-BE49-F238E27FC236}">
                <a16:creationId xmlns:a16="http://schemas.microsoft.com/office/drawing/2014/main" id="{5237D4F9-45B5-6D0B-EE82-CF3A3EEA1238}"/>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0B6033D9-918B-4168-A128-4DEB19D0C889}"/>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2756078719"/>
      </p:ext>
    </p:extLst>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6C8E5-6CB1-BE97-13FF-FB82ED346FCE}"/>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B8E9B6E-E081-B415-4D4E-238D5430A3E4}"/>
              </a:ext>
            </a:extLst>
          </p:cNvPr>
          <p:cNvSpPr>
            <a:spLocks noGrp="1"/>
          </p:cNvSpPr>
          <p:nvPr>
            <p:ph idx="1"/>
          </p:nvPr>
        </p:nvSpPr>
        <p:spPr/>
        <p:txBody>
          <a:bodyPr vert="horz" lIns="91440" tIns="45720" rIns="91440" bIns="45720" rtlCol="0" anchor="t">
            <a:normAutofit fontScale="77500" lnSpcReduction="20000"/>
          </a:bodyPr>
          <a:lstStyle/>
          <a:p>
            <a:pPr lvl="1"/>
            <a:r>
              <a:rPr lang="en-US" dirty="0" err="1"/>
              <a:t>Algorithmica</a:t>
            </a:r>
            <a:endParaRPr lang="en-PH" dirty="0"/>
          </a:p>
          <a:p>
            <a:pPr lvl="2"/>
            <a:r>
              <a:rPr lang="en-US" dirty="0"/>
              <a:t>Allows the user to automate actions in crafting stations, furnaces, and color crafters.</a:t>
            </a:r>
            <a:endParaRPr lang="en-PH" b="1" dirty="0"/>
          </a:p>
          <a:p>
            <a:pPr lvl="1"/>
            <a:r>
              <a:rPr lang="en-US" dirty="0"/>
              <a:t>LUA (Live Unit Application)</a:t>
            </a:r>
            <a:endParaRPr lang="en-PH" dirty="0"/>
          </a:p>
          <a:p>
            <a:pPr lvl="2"/>
            <a:r>
              <a:rPr lang="en-US" dirty="0"/>
              <a:t>An advanced </a:t>
            </a:r>
            <a:r>
              <a:rPr lang="en-US" dirty="0" err="1"/>
              <a:t>Automatica</a:t>
            </a:r>
            <a:r>
              <a:rPr lang="en-US" dirty="0"/>
              <a:t> non-player character that introduces the user to the Lua language.</a:t>
            </a:r>
            <a:endParaRPr lang="en-PH" dirty="0"/>
          </a:p>
          <a:p>
            <a:pPr lvl="1"/>
            <a:r>
              <a:rPr lang="en-US" dirty="0"/>
              <a:t>Py-</a:t>
            </a:r>
            <a:r>
              <a:rPr lang="en-US" dirty="0" err="1"/>
              <a:t>san</a:t>
            </a:r>
            <a:endParaRPr lang="en-PH" dirty="0"/>
          </a:p>
          <a:p>
            <a:pPr lvl="2"/>
            <a:r>
              <a:rPr lang="en-US" dirty="0"/>
              <a:t>An advanced </a:t>
            </a:r>
            <a:r>
              <a:rPr lang="en-US" dirty="0" err="1"/>
              <a:t>Algorithmica</a:t>
            </a:r>
            <a:r>
              <a:rPr lang="en-US" dirty="0"/>
              <a:t> non-player character that introduces the user to the Python language.</a:t>
            </a:r>
            <a:endParaRPr lang="en-PH" dirty="0"/>
          </a:p>
          <a:p>
            <a:pPr lvl="1"/>
            <a:r>
              <a:rPr lang="en-US" dirty="0"/>
              <a:t>Autosave</a:t>
            </a:r>
            <a:endParaRPr lang="en-PH" dirty="0"/>
          </a:p>
          <a:p>
            <a:pPr lvl="2"/>
            <a:r>
              <a:rPr lang="en-US" dirty="0"/>
              <a:t>The game will automatically save the player’s progress periodically and during state changes such as entering caves and dungeons, as well as when the player quits the game.</a:t>
            </a:r>
            <a:endParaRPr lang="en-PH" dirty="0"/>
          </a:p>
          <a:p>
            <a:pPr lvl="1"/>
            <a:r>
              <a:rPr lang="en-US" dirty="0"/>
              <a:t>Build Mode</a:t>
            </a:r>
            <a:endParaRPr lang="en-PH" dirty="0"/>
          </a:p>
          <a:p>
            <a:pPr lvl="2"/>
            <a:r>
              <a:rPr lang="en-US" dirty="0"/>
              <a:t>Can be toggled on or off to place down blocks.</a:t>
            </a:r>
            <a:endParaRPr lang="en-PH" dirty="0"/>
          </a:p>
        </p:txBody>
      </p:sp>
      <p:sp>
        <p:nvSpPr>
          <p:cNvPr id="26" name="Title 6">
            <a:extLst>
              <a:ext uri="{FF2B5EF4-FFF2-40B4-BE49-F238E27FC236}">
                <a16:creationId xmlns:a16="http://schemas.microsoft.com/office/drawing/2014/main" id="{C753B4DB-9FCC-0AE4-655E-14B7B8745A25}"/>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D07BD6B6-6C33-7249-B3DE-9DD913EAF8D8}"/>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2834963993"/>
      </p:ext>
    </p:extLst>
  </p:cSld>
  <p:clrMapOvr>
    <a:masterClrMapping/>
  </p:clrMapOvr>
  <p:transition>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D9AEA-3B06-AD24-C939-619B8393CE4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AC136AF-A522-89F9-95CB-97933D9A554F}"/>
              </a:ext>
            </a:extLst>
          </p:cNvPr>
          <p:cNvSpPr>
            <a:spLocks noGrp="1"/>
          </p:cNvSpPr>
          <p:nvPr>
            <p:ph idx="1"/>
          </p:nvPr>
        </p:nvSpPr>
        <p:spPr/>
        <p:txBody>
          <a:bodyPr vert="horz" lIns="91440" tIns="45720" rIns="91440" bIns="45720" rtlCol="0" anchor="t">
            <a:normAutofit fontScale="55000" lnSpcReduction="20000"/>
          </a:bodyPr>
          <a:lstStyle/>
          <a:p>
            <a:pPr lvl="0"/>
            <a:r>
              <a:rPr lang="en-US" b="1" dirty="0"/>
              <a:t>Desktop and Mobile Application</a:t>
            </a:r>
            <a:endParaRPr lang="en-PH" b="1" dirty="0"/>
          </a:p>
          <a:p>
            <a:pPr lvl="1"/>
            <a:r>
              <a:rPr lang="en-US" dirty="0"/>
              <a:t>HUD (Heads-Up Display)</a:t>
            </a:r>
            <a:endParaRPr lang="en-PH" dirty="0"/>
          </a:p>
          <a:p>
            <a:pPr lvl="2"/>
            <a:r>
              <a:rPr lang="en-US" dirty="0"/>
              <a:t>Pause</a:t>
            </a:r>
            <a:endParaRPr lang="en-PH" dirty="0"/>
          </a:p>
          <a:p>
            <a:pPr lvl="3"/>
            <a:r>
              <a:rPr lang="en-US" dirty="0"/>
              <a:t>Allow the user to temporarily pause the game, showing the Pause Menu Panel.</a:t>
            </a:r>
            <a:endParaRPr lang="en-PH" dirty="0"/>
          </a:p>
          <a:p>
            <a:pPr lvl="2"/>
            <a:r>
              <a:rPr lang="en-US" dirty="0"/>
              <a:t>Pause Menu Panel</a:t>
            </a:r>
            <a:endParaRPr lang="en-PH" dirty="0"/>
          </a:p>
          <a:p>
            <a:pPr lvl="3"/>
            <a:r>
              <a:rPr lang="en-US" dirty="0"/>
              <a:t>Resume</a:t>
            </a:r>
            <a:endParaRPr lang="en-PH" dirty="0"/>
          </a:p>
          <a:p>
            <a:pPr lvl="4"/>
            <a:r>
              <a:rPr lang="en-US" dirty="0"/>
              <a:t>Resumes the current game.</a:t>
            </a:r>
            <a:endParaRPr lang="en-PH" dirty="0"/>
          </a:p>
          <a:p>
            <a:pPr lvl="3"/>
            <a:r>
              <a:rPr lang="en-US" dirty="0"/>
              <a:t>Settings</a:t>
            </a:r>
            <a:endParaRPr lang="en-PH" dirty="0"/>
          </a:p>
          <a:p>
            <a:pPr lvl="4"/>
            <a:r>
              <a:rPr lang="en-US" dirty="0"/>
              <a:t>Shows the settings panel.</a:t>
            </a:r>
            <a:endParaRPr lang="en-PH" dirty="0"/>
          </a:p>
          <a:p>
            <a:pPr lvl="3"/>
            <a:r>
              <a:rPr lang="en-US" dirty="0"/>
              <a:t>Lua Management</a:t>
            </a:r>
            <a:endParaRPr lang="en-PH" dirty="0"/>
          </a:p>
          <a:p>
            <a:pPr lvl="4"/>
            <a:r>
              <a:rPr lang="en-US" dirty="0"/>
              <a:t>Allows the player to manage the LUA robots.</a:t>
            </a:r>
            <a:endParaRPr lang="en-PH" dirty="0"/>
          </a:p>
          <a:p>
            <a:pPr lvl="3"/>
            <a:r>
              <a:rPr lang="en-US" dirty="0"/>
              <a:t>Quit</a:t>
            </a:r>
            <a:endParaRPr lang="en-PH" dirty="0"/>
          </a:p>
          <a:p>
            <a:pPr lvl="4"/>
            <a:r>
              <a:rPr lang="en-US" dirty="0"/>
              <a:t>Saves the game and directs the user to the Start Page.</a:t>
            </a:r>
            <a:endParaRPr lang="en-PH" dirty="0"/>
          </a:p>
          <a:p>
            <a:pPr lvl="2"/>
            <a:r>
              <a:rPr lang="en-US" dirty="0"/>
              <a:t>Mission Panel</a:t>
            </a:r>
            <a:endParaRPr lang="en-PH" dirty="0"/>
          </a:p>
          <a:p>
            <a:pPr lvl="3"/>
            <a:r>
              <a:rPr lang="en-US" dirty="0"/>
              <a:t>Shows the user the current missions they can do to progress.</a:t>
            </a:r>
            <a:endParaRPr lang="en-PH" dirty="0"/>
          </a:p>
          <a:p>
            <a:pPr lvl="2"/>
            <a:r>
              <a:rPr lang="en-US" dirty="0"/>
              <a:t>Health Bar</a:t>
            </a:r>
            <a:endParaRPr lang="en-PH" dirty="0"/>
          </a:p>
          <a:p>
            <a:pPr lvl="3"/>
            <a:r>
              <a:rPr lang="en-US" dirty="0"/>
              <a:t>Shows the user their current health.</a:t>
            </a:r>
            <a:endParaRPr lang="en-PH" dirty="0"/>
          </a:p>
          <a:p>
            <a:pPr lvl="2"/>
            <a:r>
              <a:rPr lang="en-US" dirty="0"/>
              <a:t>Stamina Bar</a:t>
            </a:r>
            <a:endParaRPr lang="en-PH" dirty="0"/>
          </a:p>
          <a:p>
            <a:pPr lvl="3"/>
            <a:r>
              <a:rPr lang="en-US" dirty="0"/>
              <a:t>Shows the current stamina, which drains when running.</a:t>
            </a:r>
            <a:endParaRPr lang="en-PH" dirty="0"/>
          </a:p>
        </p:txBody>
      </p:sp>
      <p:sp>
        <p:nvSpPr>
          <p:cNvPr id="26" name="Title 6">
            <a:extLst>
              <a:ext uri="{FF2B5EF4-FFF2-40B4-BE49-F238E27FC236}">
                <a16:creationId xmlns:a16="http://schemas.microsoft.com/office/drawing/2014/main" id="{480CEBCB-D1BE-C632-39AE-53C67011A687}"/>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5DA324E9-C09C-F1B0-9F7A-B64D937AF60F}"/>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1565994455"/>
      </p:ext>
    </p:extLst>
  </p:cSld>
  <p:clrMapOvr>
    <a:masterClrMapping/>
  </p:clrMapOvr>
  <p:transition>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F54C5-688E-D570-BBC9-670D1D6AD641}"/>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C3FC835-011E-5449-5888-ADE80DA1B132}"/>
              </a:ext>
            </a:extLst>
          </p:cNvPr>
          <p:cNvSpPr>
            <a:spLocks noGrp="1"/>
          </p:cNvSpPr>
          <p:nvPr>
            <p:ph idx="1"/>
          </p:nvPr>
        </p:nvSpPr>
        <p:spPr/>
        <p:txBody>
          <a:bodyPr vert="horz" lIns="91440" tIns="45720" rIns="91440" bIns="45720" rtlCol="0" anchor="t">
            <a:normAutofit fontScale="55000" lnSpcReduction="20000"/>
          </a:bodyPr>
          <a:lstStyle/>
          <a:p>
            <a:pPr lvl="2"/>
            <a:r>
              <a:rPr lang="en-US" dirty="0" err="1"/>
              <a:t>Hotbar</a:t>
            </a:r>
            <a:endParaRPr lang="en-PH" dirty="0"/>
          </a:p>
          <a:p>
            <a:pPr lvl="3"/>
            <a:r>
              <a:rPr lang="en-US" dirty="0"/>
              <a:t>Show the user their current held items.</a:t>
            </a:r>
            <a:endParaRPr lang="en-PH" dirty="0"/>
          </a:p>
          <a:p>
            <a:pPr lvl="2"/>
            <a:r>
              <a:rPr lang="en-US" dirty="0"/>
              <a:t>Inventory</a:t>
            </a:r>
            <a:endParaRPr lang="en-PH" dirty="0"/>
          </a:p>
          <a:p>
            <a:pPr lvl="3"/>
            <a:r>
              <a:rPr lang="en-US" dirty="0"/>
              <a:t>Shows the user their extra space and a smaller crafting area.</a:t>
            </a:r>
            <a:endParaRPr lang="en-PH" dirty="0"/>
          </a:p>
          <a:p>
            <a:pPr lvl="2"/>
            <a:r>
              <a:rPr lang="en-US" dirty="0"/>
              <a:t>Programming Encyclopedia</a:t>
            </a:r>
            <a:endParaRPr lang="en-PH" dirty="0"/>
          </a:p>
          <a:p>
            <a:pPr lvl="3"/>
            <a:r>
              <a:rPr lang="en-US" dirty="0"/>
              <a:t>Contain details about programming concepts for Lua and Python learned through dungeons and custom functions for </a:t>
            </a:r>
            <a:r>
              <a:rPr lang="en-US" dirty="0" err="1"/>
              <a:t>Algorithmica</a:t>
            </a:r>
            <a:r>
              <a:rPr lang="en-US" dirty="0"/>
              <a:t> and </a:t>
            </a:r>
            <a:r>
              <a:rPr lang="en-US" dirty="0" err="1"/>
              <a:t>Automatica</a:t>
            </a:r>
            <a:r>
              <a:rPr lang="en-US" dirty="0"/>
              <a:t>.</a:t>
            </a:r>
            <a:endParaRPr lang="en-PH" dirty="0"/>
          </a:p>
          <a:p>
            <a:pPr lvl="2"/>
            <a:r>
              <a:rPr lang="en-US" dirty="0"/>
              <a:t>Code Editor Panel</a:t>
            </a:r>
            <a:endParaRPr lang="en-PH" dirty="0"/>
          </a:p>
          <a:p>
            <a:pPr lvl="3"/>
            <a:r>
              <a:rPr lang="en-US" dirty="0"/>
              <a:t>A panel that prompts the user to code in Lua or Python to either progress in a dungeon or customize their </a:t>
            </a:r>
            <a:r>
              <a:rPr lang="en-US" dirty="0" err="1"/>
              <a:t>Automatica</a:t>
            </a:r>
            <a:r>
              <a:rPr lang="en-US" dirty="0"/>
              <a:t> and </a:t>
            </a:r>
            <a:r>
              <a:rPr lang="en-US" dirty="0" err="1"/>
              <a:t>Algorithmica</a:t>
            </a:r>
            <a:r>
              <a:rPr lang="en-US" dirty="0"/>
              <a:t>.</a:t>
            </a:r>
            <a:endParaRPr lang="en-PH" dirty="0"/>
          </a:p>
          <a:p>
            <a:pPr lvl="2"/>
            <a:r>
              <a:rPr lang="en-US" dirty="0"/>
              <a:t>Crafting Panel</a:t>
            </a:r>
            <a:endParaRPr lang="en-PH" dirty="0"/>
          </a:p>
          <a:p>
            <a:pPr lvl="3"/>
            <a:r>
              <a:rPr lang="en-US" dirty="0"/>
              <a:t>A panel for more advanced crafting, unlockable when the user crafts the crafting station.</a:t>
            </a:r>
            <a:endParaRPr lang="en-PH" dirty="0"/>
          </a:p>
          <a:p>
            <a:pPr lvl="2"/>
            <a:r>
              <a:rPr lang="en-US" dirty="0"/>
              <a:t>Map</a:t>
            </a:r>
            <a:endParaRPr lang="en-PH" dirty="0"/>
          </a:p>
          <a:p>
            <a:pPr lvl="3"/>
            <a:r>
              <a:rPr lang="en-US" dirty="0"/>
              <a:t>A representation of the world that shows the overworld, cave, and dungeons.</a:t>
            </a:r>
            <a:endParaRPr lang="en-PH" b="1" dirty="0"/>
          </a:p>
          <a:p>
            <a:pPr lvl="2"/>
            <a:r>
              <a:rPr lang="en-US" dirty="0"/>
              <a:t>On-screen Joystick</a:t>
            </a:r>
            <a:endParaRPr lang="en-PH" dirty="0"/>
          </a:p>
          <a:p>
            <a:pPr lvl="3"/>
            <a:r>
              <a:rPr lang="en-US" dirty="0"/>
              <a:t>Allows movement for mobile users.</a:t>
            </a:r>
            <a:endParaRPr lang="en-PH" dirty="0"/>
          </a:p>
          <a:p>
            <a:pPr lvl="2"/>
            <a:r>
              <a:rPr lang="en-US" dirty="0"/>
              <a:t>Interact Button</a:t>
            </a:r>
            <a:endParaRPr lang="en-PH" dirty="0"/>
          </a:p>
          <a:p>
            <a:pPr lvl="3"/>
            <a:r>
              <a:rPr lang="en-US" dirty="0"/>
              <a:t>A general button that changes depending on the items near the player's character.</a:t>
            </a:r>
            <a:endParaRPr lang="en-PH" dirty="0"/>
          </a:p>
          <a:p>
            <a:pPr lvl="2"/>
            <a:r>
              <a:rPr lang="en-US" dirty="0"/>
              <a:t>Build Mode Button</a:t>
            </a:r>
            <a:endParaRPr lang="en-PH" dirty="0"/>
          </a:p>
          <a:p>
            <a:pPr lvl="3"/>
            <a:r>
              <a:rPr lang="en-US" dirty="0"/>
              <a:t>Can be toggled on or off if the player wants to build.</a:t>
            </a:r>
            <a:endParaRPr lang="en-PH" dirty="0"/>
          </a:p>
        </p:txBody>
      </p:sp>
      <p:sp>
        <p:nvSpPr>
          <p:cNvPr id="26" name="Title 6">
            <a:extLst>
              <a:ext uri="{FF2B5EF4-FFF2-40B4-BE49-F238E27FC236}">
                <a16:creationId xmlns:a16="http://schemas.microsoft.com/office/drawing/2014/main" id="{507E73A7-D9E8-F858-EE2B-B3F0C3149AA8}"/>
              </a:ext>
            </a:extLst>
          </p:cNvPr>
          <p:cNvSpPr>
            <a:spLocks noGrp="1"/>
          </p:cNvSpPr>
          <p:nvPr>
            <p:ph type="title"/>
          </p:nvPr>
        </p:nvSpPr>
        <p:spPr>
          <a:xfrm>
            <a:off x="699267" y="1010071"/>
            <a:ext cx="10972800" cy="685800"/>
          </a:xfrm>
        </p:spPr>
        <p:txBody>
          <a:bodyPr>
            <a:normAutofit fontScale="90000"/>
          </a:bodyPr>
          <a:lstStyle/>
          <a:p>
            <a:r>
              <a:rPr lang="en-PH"/>
              <a:t>Scope and Limitations of the Study</a:t>
            </a:r>
            <a:br>
              <a:rPr lang="en-US"/>
            </a:br>
            <a:endParaRPr lang="en-US"/>
          </a:p>
        </p:txBody>
      </p:sp>
      <p:sp>
        <p:nvSpPr>
          <p:cNvPr id="22" name="Footer Placeholder 3">
            <a:extLst>
              <a:ext uri="{FF2B5EF4-FFF2-40B4-BE49-F238E27FC236}">
                <a16:creationId xmlns:a16="http://schemas.microsoft.com/office/drawing/2014/main" id="{7010DC61-16A8-A12C-A70E-4A37066961A6}"/>
              </a:ext>
            </a:extLst>
          </p:cNvPr>
          <p:cNvSpPr txBox="1">
            <a:spLocks/>
          </p:cNvSpPr>
          <p:nvPr/>
        </p:nvSpPr>
        <p:spPr>
          <a:xfrm>
            <a:off x="288365" y="6289116"/>
            <a:ext cx="38608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prstClr val="black"/>
                </a:solidFill>
                <a:ea typeface="Calibri"/>
                <a:cs typeface="Calibri"/>
              </a:rPr>
              <a:t>STI College San Jose Del Monte</a:t>
            </a:r>
            <a:endParaRPr lang="en-US">
              <a:solidFill>
                <a:prstClr val="black"/>
              </a:solidFill>
            </a:endParaRPr>
          </a:p>
        </p:txBody>
      </p:sp>
    </p:spTree>
    <p:extLst>
      <p:ext uri="{BB962C8B-B14F-4D97-AF65-F5344CB8AC3E}">
        <p14:creationId xmlns:p14="http://schemas.microsoft.com/office/powerpoint/2010/main" val="1526463915"/>
      </p:ext>
    </p:extLst>
  </p:cSld>
  <p:clrMapOvr>
    <a:masterClrMapping/>
  </p:clrMapOvr>
  <p:transition>
    <p:fade thruBlk="1"/>
  </p:transition>
</p:sld>
</file>

<file path=ppt/theme/theme1.xml><?xml version="1.0" encoding="utf-8"?>
<a:theme xmlns:a="http://schemas.openxmlformats.org/drawingml/2006/main" name="Christmas 201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138</TotalTime>
  <Words>2103</Words>
  <Application>Microsoft Office PowerPoint</Application>
  <PresentationFormat>Widescreen</PresentationFormat>
  <Paragraphs>244</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Courier New</vt:lpstr>
      <vt:lpstr>Times New Roman</vt:lpstr>
      <vt:lpstr>Wingdings</vt:lpstr>
      <vt:lpstr>Christmas 2010</vt:lpstr>
      <vt:lpstr>PowerPoint Presentation</vt:lpstr>
      <vt:lpstr>PowerPoint Presentation</vt:lpstr>
      <vt:lpstr>Introduction</vt:lpstr>
      <vt:lpstr>Background of the Problem</vt:lpstr>
      <vt:lpstr>General Problem</vt:lpstr>
      <vt:lpstr>Specific Problem</vt:lpstr>
      <vt:lpstr>Objectives of the Study </vt:lpstr>
      <vt:lpstr>Specific Objectives</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lpstr>Scope and Limitations of the Study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Students come up with an approved Thesis Proposal</dc:title>
  <dc:creator>Microsoft Office User</dc:creator>
  <cp:lastModifiedBy>Accad, Glenn Marco (Student)</cp:lastModifiedBy>
  <cp:revision>27</cp:revision>
  <cp:lastPrinted>2016-12-05T09:25:42Z</cp:lastPrinted>
  <dcterms:created xsi:type="dcterms:W3CDTF">2016-11-10T01:52:30Z</dcterms:created>
  <dcterms:modified xsi:type="dcterms:W3CDTF">2026-10-23T08:12:21Z</dcterms:modified>
</cp:coreProperties>
</file>